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egis" id="{4cbb9b34-46f7-58b8-ce60-56f8eae6a95e}">
          <p14:sldIdLst>
            <p14:sldId id="256"/>
          </p14:sldIdLst>
        </p14:section>
        <p14:section name="Problem" id="{5c2ae026-3eaa-d27f-5d88-173c6c4bc10f}">
          <p14:sldIdLst>
            <p14:sldId id="257"/>
          </p14:sldIdLst>
        </p14:section>
        <p14:section name="Product" id="{a56406d8-2a37-42ff-7d86-b856c032589b}">
          <p14:sldIdLst>
            <p14:sldId id="258"/>
          </p14:sldIdLst>
        </p14:section>
        <p14:section name="How it works" id="{eb24b6b8-dd82-f739-e41a-e66c6c96c49b}">
          <p14:sldIdLst>
            <p14:sldId id="259"/>
          </p14:sldIdLst>
        </p14:section>
        <p14:section name="Under the hood" id="{9333bb42-3e97-e999-6369-9e8e48092668}">
          <p14:sldIdLst>
            <p14:sldId id="260"/>
          </p14:sldIdLst>
        </p14:section>
        <p14:section name="Demo" id="{29c0ccf3-61b9-278d-5597-bb41518cad87}">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Aegis is our tech-fest project: an investigator for the four ways scams reach people in India: links, messages, calls and apps. The asterisk is the idea behind the product: Aegis never gives a verdict without showing the evidence behind it. The live site is aegis-security-bay.vercel.app.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Government figures: ₹22,845 crore lost to cyber fraud in 2024 and 22.68 lakh cyber crime cases registered (Ministry of Home Affairs reply in the Lok Sabha, July 2025). These scams arrive through four doors: links, messages, calls and apps. A plain safe-or-unsafe verdict leaves people unable to check it, and gives police nothing to work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tools in one product. Links are opened by our server, never on the user's phone, and private network addresses are blocked. Messages are read sentence by sentence for pressure tactics, and UPI IDs, phone numbers, links and amounts are pulled out. Calls are screened for impersonation, with the exact words quoted back. APKs are read without installing them. Website source code is scanned for secrets, headers and vulnerable packages. Everything ends up as a case with evidence and a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result follows the same four steps. Scoring is transparent: a critical indicator adds 40 points, high 25, medium 12, low 5, and a mitigating sign takes 10 away. Unverified hints add nothing. The total is capped between 0 and 100 and mapped to Low, Medium, High or Critical. The screenshot is a real case: a KYC-expiry SMS scored 64, High, because it asked for an OTP, threatened blocking and used KYC urgency, and each of those is quoted from the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simple on purpose. The web app is plain JavaScript with a strict content security policy, so no third-party script can run. The API is FastAPI on Vercel, and data sits in Supabase Postgres in Mumbai, in its own schema. Claude is optional and only explains findings. The Android companion pairs with a code. 45 automated backend tests pass. Privacy: no call audio stored, uploads not kept, links opened server-side, and the new My data page shows users exactly what we hold, with export and delete.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path: check a suspicious link, paste a scam SMS, open the case and prepare the cybercrime report, then show the My data page. Next on the roadmap: live call screening through a real telephony provider (today it runs on a simulated adapter), threat-intelligence feeds for link checks, and speech-to-text for uploaded call recordings.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Aegis-Title-image-3.jpe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egis Titl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eam Code Slayers logo">    </p:cNvPr>
          <p:cNvPicPr>
            <a:picLocks noChangeAspect="1"/>
          </p:cNvPicPr>
          <p:nvPr/>
        </p:nvPicPr>
        <p:blipFill>
          <a:blip r:embed="rId1"/>
          <a:stretch>
            <a:fillRect/>
          </a:stretch>
        </p:blipFill>
        <p:spPr>
          <a:xfrm>
            <a:off x="411480" y="274320"/>
            <a:ext cx="905256" cy="548640"/>
          </a:xfrm>
          <a:prstGeom prst="rect">
            <a:avLst/>
          </a:prstGeom>
        </p:spPr>
      </p:pic>
      <p:pic>
        <p:nvPicPr>
          <p:cNvPr id="3" name="Image 1" descr="JECRC University logo">    </p:cNvPr>
          <p:cNvPicPr>
            <a:picLocks noChangeAspect="1"/>
          </p:cNvPicPr>
          <p:nvPr/>
        </p:nvPicPr>
        <p:blipFill>
          <a:blip r:embed="rId2"/>
          <a:stretch>
            <a:fillRect/>
          </a:stretch>
        </p:blipFill>
        <p:spPr>
          <a:xfrm>
            <a:off x="10682935" y="292608"/>
            <a:ext cx="1097280" cy="53035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egis Content">
    <p:bg>
      <p:bgPr>
        <a:solidFill>
          <a:srgbClr val="0A0E1C"/>
        </a:solidFill>
      </p:bgPr>
    </p:bg>
    <p:spTree>
      <p:nvGrpSpPr>
        <p:cNvPr id="1" name=""/>
        <p:cNvGrpSpPr/>
        <p:nvPr/>
      </p:nvGrpSpPr>
      <p:grpSpPr>
        <a:xfrm>
          <a:off x="0" y="0"/>
          <a:ext cx="0" cy="0"/>
          <a:chOff x="0" y="0"/>
          <a:chExt cx="0" cy="0"/>
        </a:xfrm>
      </p:grpSpPr>
      <p:pic>
        <p:nvPicPr>
          <p:cNvPr id="2" name="Image 0" descr="Team Code Slayers logo">    </p:cNvPr>
          <p:cNvPicPr>
            <a:picLocks noChangeAspect="1"/>
          </p:cNvPicPr>
          <p:nvPr/>
        </p:nvPicPr>
        <p:blipFill>
          <a:blip r:embed="rId1"/>
          <a:stretch>
            <a:fillRect/>
          </a:stretch>
        </p:blipFill>
        <p:spPr>
          <a:xfrm>
            <a:off x="411480" y="274320"/>
            <a:ext cx="905256" cy="548640"/>
          </a:xfrm>
          <a:prstGeom prst="rect">
            <a:avLst/>
          </a:prstGeom>
        </p:spPr>
      </p:pic>
      <p:pic>
        <p:nvPicPr>
          <p:cNvPr id="3" name="Image 1" descr="JECRC University logo">    </p:cNvPr>
          <p:cNvPicPr>
            <a:picLocks noChangeAspect="1"/>
          </p:cNvPicPr>
          <p:nvPr/>
        </p:nvPicPr>
        <p:blipFill>
          <a:blip r:embed="rId2"/>
          <a:stretch>
            <a:fillRect/>
          </a:stretch>
        </p:blipFill>
        <p:spPr>
          <a:xfrm>
            <a:off x="10682935" y="292608"/>
            <a:ext cx="1097280" cy="530352"/>
          </a:xfrm>
          <a:prstGeom prst="rect">
            <a:avLst/>
          </a:prstGeom>
        </p:spPr>
      </p:pic>
      <p:sp>
        <p:nvSpPr>
          <p:cNvPr id="4" name="Text 0"/>
          <p:cNvSpPr/>
          <p:nvPr/>
        </p:nvSpPr>
        <p:spPr>
          <a:xfrm>
            <a:off x="548640" y="6382512"/>
            <a:ext cx="6400800" cy="274320"/>
          </a:xfrm>
          <a:prstGeom prst="rect">
            <a:avLst/>
          </a:prstGeom>
          <a:noFill/>
          <a:ln/>
        </p:spPr>
        <p:txBody>
          <a:bodyPr wrap="square" lIns="0" tIns="0" rIns="0" bIns="0" rtlCol="0" anchor="ctr"/>
          <a:lstStyle/>
          <a:p>
            <a:pPr indent="0" marL="0">
              <a:buNone/>
            </a:pPr>
            <a:r>
              <a:rPr lang="en-US" sz="1000" spc="100" kern="0" dirty="0">
                <a:solidFill>
                  <a:schemeClr val="bg2"/>
                </a:solidFill>
                <a:latin typeface="Courier New" pitchFamily="34" charset="0"/>
                <a:ea typeface="Courier New" pitchFamily="34" charset="-122"/>
                <a:cs typeface="Courier New" pitchFamily="34" charset="-120"/>
              </a:rPr>
              <a:t>AEGIS  ·  TEAM CODE SLAYERS  ·  JECRC UNIVERSITY</a:t>
            </a:r>
            <a:endParaRPr lang="en-US" sz="1000" dirty="0"/>
          </a:p>
        </p:txBody>
      </p:sp>
      <p:sp>
        <p:nvSpPr>
          <p:cNvPr id="5" name="Text 1"/>
          <p:cNvSpPr/>
          <p:nvPr>
            <p:ph idx="103" type="body" hasCustomPrompt="1"/>
          </p:nvPr>
        </p:nvSpPr>
        <p:spPr>
          <a:xfrm>
            <a:off x="548640" y="1097280"/>
            <a:ext cx="8229600" cy="292608"/>
          </a:xfrm>
          <a:prstGeom prst="rect">
            <a:avLst/>
          </a:prstGeom>
          <a:noFill/>
          <a:ln/>
        </p:spPr>
        <p:txBody>
          <a:bodyPr wrap="square" rtlCol="0"/>
          <a:lstStyle>
            <a:lvl1pPr indent="0" marL="0">
              <a:buNone/>
              <a:defRPr lang="en-US" sz="1200" b="1" spc="200" kern="0"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6" name="Text 1"/>
          <p:cNvSpPr/>
          <p:nvPr>
            <p:ph idx="104" type="title" hasCustomPrompt="1"/>
          </p:nvPr>
        </p:nvSpPr>
        <p:spPr>
          <a:xfrm>
            <a:off x="548640" y="1371600"/>
            <a:ext cx="11091672" cy="731520"/>
          </a:xfrm>
          <a:prstGeom prst="rect">
            <a:avLst/>
          </a:prstGeom>
          <a:noFill/>
          <a:ln/>
        </p:spPr>
        <p:txBody>
          <a:bodyPr wrap="square" rtlCol="0"/>
          <a:lstStyle>
            <a:lvl1pPr algn="l" indent="0" marL="0">
              <a:buNone/>
              <a:defRPr lang="en-US" sz="3600" b="1" dirty="0">
                <a:solidFill>
                  <a:schemeClr val="bg1"/>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aegis-security-bay.vercel.app"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3.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aegis-security-bay.vercel.app" TargetMode="External"/><Relationship Id="rId1"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vent"/>
          <p:cNvSpPr txBox="1"/>
          <p:nvPr/>
        </p:nvSpPr>
        <p:spPr>
          <a:xfrm>
            <a:off x="548640" y="2514600"/>
            <a:ext cx="7315200" cy="320040"/>
          </a:xfrm>
          <a:prstGeom prst="rect">
            <a:avLst/>
          </a:prstGeom>
          <a:noFill/>
          <a:ln/>
        </p:spPr>
        <p:txBody>
          <a:bodyPr wrap="square" lIns="0" tIns="0" rIns="0" bIns="0" rtlCol="0" anchor="ctr"/>
          <a:lstStyle/>
          <a:p>
            <a:pPr indent="0" marL="0">
              <a:buNone/>
            </a:pPr>
            <a:r>
              <a:rPr lang="en-US" sz="1300" b="1" spc="200" kern="0" dirty="0">
                <a:solidFill>
                  <a:schemeClr val="accent1"/>
                </a:solidFill>
                <a:latin typeface="Courier New" pitchFamily="34" charset="0"/>
                <a:ea typeface="Courier New" pitchFamily="34" charset="-122"/>
                <a:cs typeface="Courier New" pitchFamily="34" charset="-120"/>
              </a:rPr>
              <a:t>JECRC UNIVERSITY  ·  TECH FEST 2026</a:t>
            </a:r>
            <a:endParaRPr lang="en-US" sz="1300" dirty="0"/>
          </a:p>
        </p:txBody>
      </p:sp>
      <p:sp>
        <p:nvSpPr>
          <p:cNvPr id="3" name="Title"/>
          <p:cNvSpPr txBox="1"/>
          <p:nvPr/>
        </p:nvSpPr>
        <p:spPr>
          <a:xfrm>
            <a:off x="502920" y="2834640"/>
            <a:ext cx="7315200" cy="1417320"/>
          </a:xfrm>
          <a:prstGeom prst="rect">
            <a:avLst/>
          </a:prstGeom>
          <a:noFill/>
          <a:ln/>
        </p:spPr>
        <p:txBody>
          <a:bodyPr wrap="square" lIns="0" tIns="0" rIns="0" bIns="0" rtlCol="0" anchor="ctr"/>
          <a:lstStyle/>
          <a:p>
            <a:pPr indent="0" marL="0">
              <a:buNone/>
            </a:pPr>
            <a:r>
              <a:rPr lang="en-US" sz="9600" b="1" dirty="0">
                <a:solidFill>
                  <a:schemeClr val="bg1"/>
                </a:solidFill>
                <a:latin typeface="Arial" pitchFamily="34" charset="0"/>
                <a:ea typeface="Arial" pitchFamily="34" charset="-122"/>
                <a:cs typeface="Arial" pitchFamily="34" charset="-120"/>
              </a:rPr>
              <a:t>Aegis</a:t>
            </a:r>
            <a:pPr indent="0" marL="0">
              <a:buNone/>
            </a:pPr>
            <a:r>
              <a:rPr lang="en-US" sz="4800" b="1" baseline="30000" dirty="0">
                <a:solidFill>
                  <a:schemeClr val="accent2"/>
                </a:solidFill>
                <a:latin typeface="Arial" pitchFamily="34" charset="0"/>
                <a:ea typeface="Arial" pitchFamily="34" charset="-122"/>
                <a:cs typeface="Arial" pitchFamily="34" charset="-120"/>
              </a:rPr>
              <a:t>*</a:t>
            </a:r>
            <a:endParaRPr lang="en-US" sz="9600" dirty="0"/>
          </a:p>
        </p:txBody>
      </p:sp>
      <p:sp>
        <p:nvSpPr>
          <p:cNvPr id="4" name="Subtitle"/>
          <p:cNvSpPr txBox="1"/>
          <p:nvPr/>
        </p:nvSpPr>
        <p:spPr>
          <a:xfrm>
            <a:off x="548640" y="4343400"/>
            <a:ext cx="6309360" cy="822960"/>
          </a:xfrm>
          <a:prstGeom prst="rect">
            <a:avLst/>
          </a:prstGeom>
          <a:noFill/>
          <a:ln/>
        </p:spPr>
        <p:txBody>
          <a:bodyPr wrap="square" lIns="0" tIns="0" rIns="0" bIns="0" rtlCol="0" anchor="t"/>
          <a:lstStyle/>
          <a:p>
            <a:pPr indent="0" marL="0">
              <a:buNone/>
            </a:pPr>
            <a:r>
              <a:rPr lang="en-US" sz="2000" dirty="0">
                <a:solidFill>
                  <a:schemeClr val="bg1"/>
                </a:solidFill>
              </a:rPr>
              <a:t>Investigates suspicious links, messages, calls and apps, and shows the evidence behind every verdict.</a:t>
            </a:r>
            <a:endParaRPr lang="en-US" sz="2000" dirty="0"/>
          </a:p>
        </p:txBody>
      </p:sp>
      <p:sp>
        <p:nvSpPr>
          <p:cNvPr id="5" name="Team and link"/>
          <p:cNvSpPr txBox="1"/>
          <p:nvPr/>
        </p:nvSpPr>
        <p:spPr>
          <a:xfrm>
            <a:off x="548640" y="5349240"/>
            <a:ext cx="7315200" cy="365760"/>
          </a:xfrm>
          <a:prstGeom prst="rect">
            <a:avLst/>
          </a:prstGeom>
          <a:noFill/>
          <a:ln/>
        </p:spPr>
        <p:txBody>
          <a:bodyPr wrap="square" lIns="0" tIns="0" rIns="0" bIns="0" rtlCol="0" anchor="ctr"/>
          <a:lstStyle/>
          <a:p>
            <a:pPr indent="0" marL="0">
              <a:buNone/>
            </a:pPr>
            <a:r>
              <a:rPr lang="en-US" sz="1600" b="1" dirty="0">
                <a:solidFill>
                  <a:schemeClr val="bg1"/>
                </a:solidFill>
              </a:rPr>
              <a:t>Team Code Slayers</a:t>
            </a:r>
            <a:pPr indent="0" marL="0">
              <a:buNone/>
            </a:pPr>
            <a:r>
              <a:rPr lang="en-US" sz="1600" dirty="0">
                <a:solidFill>
                  <a:schemeClr val="bg1"/>
                </a:solidFill>
              </a:rPr>
              <a:t>     </a:t>
            </a:r>
            <a:pPr indent="0" marL="0">
              <a:buNone/>
            </a:pPr>
            <a:r>
              <a:rPr lang="en-US" sz="16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aegis-security-bay.vercel.app</a:t>
            </a:r>
            <a:endParaRPr lang="en-US" sz="1600" dirty="0"/>
          </a:p>
        </p:txBody>
      </p:sp>
      <p:sp>
        <p:nvSpPr>
          <p:cNvPr id="6" name="Footnote"/>
          <p:cNvSpPr txBox="1"/>
          <p:nvPr/>
        </p:nvSpPr>
        <p:spPr>
          <a:xfrm>
            <a:off x="548640" y="6263640"/>
            <a:ext cx="548640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 No verdict without evidence.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3" type="body" hasCustomPrompt="1"/>
          </p:nvPr>
        </p:nvSpPr>
        <p:spPr>
          <a:xfrm>
            <a:off x="548640" y="109728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THE PROBLEM</a:t>
            </a:r>
            <a:endParaRPr lang="en-US" sz="1200" dirty="0"/>
          </a:p>
        </p:txBody>
      </p:sp>
      <p:sp>
        <p:nvSpPr>
          <p:cNvPr id="3" name="Text 1"/>
          <p:cNvSpPr/>
          <p:nvPr>
            <p:ph idx="104" type="title" hasCustomPrompt="1"/>
          </p:nvPr>
        </p:nvSpPr>
        <p:spPr>
          <a:xfrm>
            <a:off x="548640" y="1371600"/>
            <a:ext cx="11091672" cy="731520"/>
          </a:xfrm>
          <a:prstGeom prst="rect">
            <a:avLst/>
          </a:prstGeom>
          <a:noFill/>
          <a:ln/>
        </p:spPr>
        <p:txBody>
          <a:bodyPr wrap="square" lIns="0" tIns="0" rIns="0" bIns="0" rtlCol="0" anchor="t"/>
          <a:lstStyle/>
          <a:p>
            <a:pPr algn="l" indent="0" marL="0">
              <a:buNone/>
            </a:pPr>
            <a:r>
              <a:rPr lang="en-US" sz="3600" b="1" dirty="0">
                <a:solidFill>
                  <a:schemeClr val="bg1"/>
                </a:solidFill>
                <a:latin typeface="Arial" pitchFamily="34" charset="0"/>
                <a:ea typeface="Arial" pitchFamily="34" charset="-122"/>
                <a:cs typeface="Arial" pitchFamily="34" charset="-120"/>
              </a:rPr>
              <a:t>Scams reach people through four doors</a:t>
            </a:r>
            <a:endParaRPr lang="en-US" sz="3600" dirty="0"/>
          </a:p>
        </p:txBody>
      </p:sp>
      <p:sp>
        <p:nvSpPr>
          <p:cNvPr id="4" name="Stat loss"/>
          <p:cNvSpPr txBox="1"/>
          <p:nvPr/>
        </p:nvSpPr>
        <p:spPr>
          <a:xfrm>
            <a:off x="548640" y="2331720"/>
            <a:ext cx="4754880" cy="914400"/>
          </a:xfrm>
          <a:prstGeom prst="rect">
            <a:avLst/>
          </a:prstGeom>
          <a:noFill/>
          <a:ln/>
        </p:spPr>
        <p:txBody>
          <a:bodyPr wrap="square" lIns="0" tIns="0" rIns="0" bIns="0" rtlCol="0" anchor="ctr"/>
          <a:lstStyle/>
          <a:p>
            <a:pPr indent="0" marL="0">
              <a:buNone/>
            </a:pPr>
            <a:r>
              <a:rPr lang="en-US" sz="5800" b="1" dirty="0">
                <a:solidFill>
                  <a:schemeClr val="accent2"/>
                </a:solidFill>
                <a:latin typeface="Arial" pitchFamily="34" charset="0"/>
                <a:ea typeface="Arial" pitchFamily="34" charset="-122"/>
                <a:cs typeface="Arial" pitchFamily="34" charset="-120"/>
              </a:rPr>
              <a:t>₹22,845 cr</a:t>
            </a:r>
            <a:endParaRPr lang="en-US" sz="5800" dirty="0"/>
          </a:p>
        </p:txBody>
      </p:sp>
      <p:sp>
        <p:nvSpPr>
          <p:cNvPr id="5" name="Stat loss label"/>
          <p:cNvSpPr txBox="1"/>
          <p:nvPr/>
        </p:nvSpPr>
        <p:spPr>
          <a:xfrm>
            <a:off x="548640" y="3246120"/>
            <a:ext cx="4754880" cy="365760"/>
          </a:xfrm>
          <a:prstGeom prst="rect">
            <a:avLst/>
          </a:prstGeom>
          <a:noFill/>
          <a:ln/>
        </p:spPr>
        <p:txBody>
          <a:bodyPr wrap="square" lIns="0" tIns="0" rIns="0" bIns="0" rtlCol="0" anchor="ctr"/>
          <a:lstStyle/>
          <a:p>
            <a:pPr indent="0" marL="0">
              <a:buNone/>
            </a:pPr>
            <a:r>
              <a:rPr lang="en-US" sz="1600" dirty="0">
                <a:solidFill>
                  <a:schemeClr val="bg2"/>
                </a:solidFill>
              </a:rPr>
              <a:t>lost by Indians to cyber fraud in 2024</a:t>
            </a:r>
            <a:endParaRPr lang="en-US" sz="1600" dirty="0"/>
          </a:p>
        </p:txBody>
      </p:sp>
      <p:sp>
        <p:nvSpPr>
          <p:cNvPr id="6" name="Stat cases"/>
          <p:cNvSpPr txBox="1"/>
          <p:nvPr/>
        </p:nvSpPr>
        <p:spPr>
          <a:xfrm>
            <a:off x="548640" y="3886200"/>
            <a:ext cx="4754880" cy="914400"/>
          </a:xfrm>
          <a:prstGeom prst="rect">
            <a:avLst/>
          </a:prstGeom>
          <a:noFill/>
          <a:ln/>
        </p:spPr>
        <p:txBody>
          <a:bodyPr wrap="square" lIns="0" tIns="0" rIns="0" bIns="0" rtlCol="0" anchor="ctr"/>
          <a:lstStyle/>
          <a:p>
            <a:pPr indent="0" marL="0">
              <a:buNone/>
            </a:pPr>
            <a:r>
              <a:rPr lang="en-US" sz="5800" b="1" dirty="0">
                <a:solidFill>
                  <a:schemeClr val="bg1"/>
                </a:solidFill>
                <a:latin typeface="Arial" pitchFamily="34" charset="0"/>
                <a:ea typeface="Arial" pitchFamily="34" charset="-122"/>
                <a:cs typeface="Arial" pitchFamily="34" charset="-120"/>
              </a:rPr>
              <a:t>22.68 lakh</a:t>
            </a:r>
            <a:endParaRPr lang="en-US" sz="5800" dirty="0"/>
          </a:p>
        </p:txBody>
      </p:sp>
      <p:sp>
        <p:nvSpPr>
          <p:cNvPr id="7" name="Stat cases label"/>
          <p:cNvSpPr txBox="1"/>
          <p:nvPr/>
        </p:nvSpPr>
        <p:spPr>
          <a:xfrm>
            <a:off x="548640" y="4800600"/>
            <a:ext cx="4754880" cy="365760"/>
          </a:xfrm>
          <a:prstGeom prst="rect">
            <a:avLst/>
          </a:prstGeom>
          <a:noFill/>
          <a:ln/>
        </p:spPr>
        <p:txBody>
          <a:bodyPr wrap="square" lIns="0" tIns="0" rIns="0" bIns="0" rtlCol="0" anchor="ctr"/>
          <a:lstStyle/>
          <a:p>
            <a:pPr indent="0" marL="0">
              <a:buNone/>
            </a:pPr>
            <a:r>
              <a:rPr lang="en-US" sz="1600" dirty="0">
                <a:solidFill>
                  <a:schemeClr val="bg2"/>
                </a:solidFill>
              </a:rPr>
              <a:t>cyber crime cases registered in 2024</a:t>
            </a:r>
            <a:endParaRPr lang="en-US" sz="1600" dirty="0"/>
          </a:p>
        </p:txBody>
      </p:sp>
      <p:sp>
        <p:nvSpPr>
          <p:cNvPr id="8" name="Source"/>
          <p:cNvSpPr txBox="1"/>
          <p:nvPr/>
        </p:nvSpPr>
        <p:spPr>
          <a:xfrm>
            <a:off x="548640" y="5760720"/>
            <a:ext cx="4754880" cy="274320"/>
          </a:xfrm>
          <a:prstGeom prst="rect">
            <a:avLst/>
          </a:prstGeom>
          <a:noFill/>
          <a:ln/>
        </p:spPr>
        <p:txBody>
          <a:bodyPr wrap="square" lIns="0" tIns="0" rIns="0" bIns="0" rtlCol="0" anchor="ctr"/>
          <a:lstStyle/>
          <a:p>
            <a:pPr indent="0" marL="0">
              <a:buNone/>
            </a:pPr>
            <a:r>
              <a:rPr lang="en-US" sz="1000" i="1" dirty="0">
                <a:solidFill>
                  <a:schemeClr val="bg2"/>
                </a:solidFill>
              </a:rPr>
              <a:t>Source: Ministry of Home Affairs, reply in the Lok Sabha, July 2025</a:t>
            </a:r>
            <a:endParaRPr lang="en-US" sz="1000" dirty="0"/>
          </a:p>
        </p:txBody>
      </p:sp>
      <p:sp>
        <p:nvSpPr>
          <p:cNvPr id="9" name="Links circle"/>
          <p:cNvSpPr/>
          <p:nvPr/>
        </p:nvSpPr>
        <p:spPr>
          <a:xfrm>
            <a:off x="5852160" y="2377440"/>
            <a:ext cx="512064" cy="512064"/>
          </a:xfrm>
          <a:prstGeom prst="ellipse">
            <a:avLst/>
          </a:prstGeom>
          <a:solidFill>
            <a:schemeClr val="accent1">
              <a:alpha val="18000"/>
            </a:schemeClr>
          </a:solidFill>
          <a:ln/>
        </p:spPr>
      </p:sp>
      <p:pic>
        <p:nvPicPr>
          <p:cNvPr id="10" name="Links icon" descr="preencoded.png">    </p:cNvPr>
          <p:cNvPicPr>
            <a:picLocks noChangeAspect="1"/>
          </p:cNvPicPr>
          <p:nvPr/>
        </p:nvPicPr>
        <p:blipFill>
          <a:blip r:embed="rId1"/>
          <a:stretch>
            <a:fillRect/>
          </a:stretch>
        </p:blipFill>
        <p:spPr>
          <a:xfrm>
            <a:off x="5975055" y="2500335"/>
            <a:ext cx="266273" cy="266273"/>
          </a:xfrm>
          <a:prstGeom prst="rect">
            <a:avLst/>
          </a:prstGeom>
        </p:spPr>
      </p:pic>
      <p:sp>
        <p:nvSpPr>
          <p:cNvPr id="11" name="Links text"/>
          <p:cNvSpPr txBox="1"/>
          <p:nvPr/>
        </p:nvSpPr>
        <p:spPr>
          <a:xfrm>
            <a:off x="6537960" y="2322576"/>
            <a:ext cx="5102352" cy="658368"/>
          </a:xfrm>
          <a:prstGeom prst="rect">
            <a:avLst/>
          </a:prstGeom>
          <a:noFill/>
          <a:ln/>
        </p:spPr>
        <p:txBody>
          <a:bodyPr wrap="square" lIns="0" tIns="0" rIns="0" bIns="0" rtlCol="0" anchor="t"/>
          <a:lstStyle/>
          <a:p>
            <a:pPr indent="0" marL="0">
              <a:buNone/>
            </a:pPr>
            <a:r>
              <a:rPr lang="en-US" sz="1700" b="1" dirty="0">
                <a:solidFill>
                  <a:schemeClr val="bg1"/>
                </a:solidFill>
              </a:rPr>
              <a:t>Links</a:t>
            </a:r>
            <a:endParaRPr lang="en-US" sz="1700" dirty="0"/>
          </a:p>
          <a:p>
            <a:pPr indent="0" marL="0">
              <a:buNone/>
            </a:pPr>
            <a:r>
              <a:rPr lang="en-US" sz="1400" dirty="0">
                <a:solidFill>
                  <a:schemeClr val="bg2"/>
                </a:solidFill>
              </a:rPr>
              <a:t>Look-alike bank and KYC pages that steal logins and card details</a:t>
            </a:r>
            <a:endParaRPr lang="en-US" sz="1700" dirty="0"/>
          </a:p>
        </p:txBody>
      </p:sp>
      <p:sp>
        <p:nvSpPr>
          <p:cNvPr id="12" name="Messages circle"/>
          <p:cNvSpPr/>
          <p:nvPr/>
        </p:nvSpPr>
        <p:spPr>
          <a:xfrm>
            <a:off x="5852160" y="3218688"/>
            <a:ext cx="512064" cy="512064"/>
          </a:xfrm>
          <a:prstGeom prst="ellipse">
            <a:avLst/>
          </a:prstGeom>
          <a:solidFill>
            <a:schemeClr val="accent1">
              <a:alpha val="18000"/>
            </a:schemeClr>
          </a:solidFill>
          <a:ln/>
        </p:spPr>
      </p:sp>
      <p:pic>
        <p:nvPicPr>
          <p:cNvPr id="13" name="Messages icon" descr="preencoded.png">    </p:cNvPr>
          <p:cNvPicPr>
            <a:picLocks noChangeAspect="1"/>
          </p:cNvPicPr>
          <p:nvPr/>
        </p:nvPicPr>
        <p:blipFill>
          <a:blip r:embed="rId2"/>
          <a:stretch>
            <a:fillRect/>
          </a:stretch>
        </p:blipFill>
        <p:spPr>
          <a:xfrm>
            <a:off x="5975055" y="3341583"/>
            <a:ext cx="266273" cy="266273"/>
          </a:xfrm>
          <a:prstGeom prst="rect">
            <a:avLst/>
          </a:prstGeom>
        </p:spPr>
      </p:pic>
      <p:sp>
        <p:nvSpPr>
          <p:cNvPr id="14" name="Messages text"/>
          <p:cNvSpPr txBox="1"/>
          <p:nvPr/>
        </p:nvSpPr>
        <p:spPr>
          <a:xfrm>
            <a:off x="6537960" y="3163824"/>
            <a:ext cx="5102352" cy="658368"/>
          </a:xfrm>
          <a:prstGeom prst="rect">
            <a:avLst/>
          </a:prstGeom>
          <a:noFill/>
          <a:ln/>
        </p:spPr>
        <p:txBody>
          <a:bodyPr wrap="square" lIns="0" tIns="0" rIns="0" bIns="0" rtlCol="0" anchor="t"/>
          <a:lstStyle/>
          <a:p>
            <a:pPr indent="0" marL="0">
              <a:buNone/>
            </a:pPr>
            <a:r>
              <a:rPr lang="en-US" sz="1700" b="1" dirty="0">
                <a:solidFill>
                  <a:schemeClr val="bg1"/>
                </a:solidFill>
              </a:rPr>
              <a:t>Messages</a:t>
            </a:r>
            <a:endParaRPr lang="en-US" sz="1700" dirty="0"/>
          </a:p>
          <a:p>
            <a:pPr indent="0" marL="0">
              <a:buNone/>
            </a:pPr>
            <a:r>
              <a:rPr lang="en-US" sz="1400" dirty="0">
                <a:solidFill>
                  <a:schemeClr val="bg2"/>
                </a:solidFill>
              </a:rPr>
              <a:t>SMS and WhatsApp texts pushing OTPs, UPI payments or KYC updates</a:t>
            </a:r>
            <a:endParaRPr lang="en-US" sz="1700" dirty="0"/>
          </a:p>
        </p:txBody>
      </p:sp>
      <p:sp>
        <p:nvSpPr>
          <p:cNvPr id="15" name="Calls circle"/>
          <p:cNvSpPr/>
          <p:nvPr/>
        </p:nvSpPr>
        <p:spPr>
          <a:xfrm>
            <a:off x="5852160" y="4059936"/>
            <a:ext cx="512064" cy="512064"/>
          </a:xfrm>
          <a:prstGeom prst="ellipse">
            <a:avLst/>
          </a:prstGeom>
          <a:solidFill>
            <a:schemeClr val="accent1">
              <a:alpha val="18000"/>
            </a:schemeClr>
          </a:solidFill>
          <a:ln/>
        </p:spPr>
      </p:sp>
      <p:pic>
        <p:nvPicPr>
          <p:cNvPr id="16" name="Calls icon" descr="preencoded.png">    </p:cNvPr>
          <p:cNvPicPr>
            <a:picLocks noChangeAspect="1"/>
          </p:cNvPicPr>
          <p:nvPr/>
        </p:nvPicPr>
        <p:blipFill>
          <a:blip r:embed="rId3"/>
          <a:stretch>
            <a:fillRect/>
          </a:stretch>
        </p:blipFill>
        <p:spPr>
          <a:xfrm>
            <a:off x="5975055" y="4182831"/>
            <a:ext cx="266273" cy="266273"/>
          </a:xfrm>
          <a:prstGeom prst="rect">
            <a:avLst/>
          </a:prstGeom>
        </p:spPr>
      </p:pic>
      <p:sp>
        <p:nvSpPr>
          <p:cNvPr id="17" name="Calls text"/>
          <p:cNvSpPr txBox="1"/>
          <p:nvPr/>
        </p:nvSpPr>
        <p:spPr>
          <a:xfrm>
            <a:off x="6537960" y="4005072"/>
            <a:ext cx="5102352" cy="658368"/>
          </a:xfrm>
          <a:prstGeom prst="rect">
            <a:avLst/>
          </a:prstGeom>
          <a:noFill/>
          <a:ln/>
        </p:spPr>
        <p:txBody>
          <a:bodyPr wrap="square" lIns="0" tIns="0" rIns="0" bIns="0" rtlCol="0" anchor="t"/>
          <a:lstStyle/>
          <a:p>
            <a:pPr indent="0" marL="0">
              <a:buNone/>
            </a:pPr>
            <a:r>
              <a:rPr lang="en-US" sz="1700" b="1" dirty="0">
                <a:solidFill>
                  <a:schemeClr val="bg1"/>
                </a:solidFill>
              </a:rPr>
              <a:t>Calls</a:t>
            </a:r>
            <a:endParaRPr lang="en-US" sz="1700" dirty="0"/>
          </a:p>
          <a:p>
            <a:pPr indent="0" marL="0">
              <a:buNone/>
            </a:pPr>
            <a:r>
              <a:rPr lang="en-US" sz="1400" dirty="0">
                <a:solidFill>
                  <a:schemeClr val="bg2"/>
                </a:solidFill>
              </a:rPr>
              <a:t>Fake police, bank and courier callers, including “digital arrest”</a:t>
            </a:r>
            <a:endParaRPr lang="en-US" sz="1700" dirty="0"/>
          </a:p>
        </p:txBody>
      </p:sp>
      <p:sp>
        <p:nvSpPr>
          <p:cNvPr id="18" name="Apps circle"/>
          <p:cNvSpPr/>
          <p:nvPr/>
        </p:nvSpPr>
        <p:spPr>
          <a:xfrm>
            <a:off x="5852160" y="4901184"/>
            <a:ext cx="512064" cy="512064"/>
          </a:xfrm>
          <a:prstGeom prst="ellipse">
            <a:avLst/>
          </a:prstGeom>
          <a:solidFill>
            <a:schemeClr val="accent1">
              <a:alpha val="18000"/>
            </a:schemeClr>
          </a:solidFill>
          <a:ln/>
        </p:spPr>
      </p:sp>
      <p:pic>
        <p:nvPicPr>
          <p:cNvPr id="19" name="Apps icon" descr="preencoded.png">    </p:cNvPr>
          <p:cNvPicPr>
            <a:picLocks noChangeAspect="1"/>
          </p:cNvPicPr>
          <p:nvPr/>
        </p:nvPicPr>
        <p:blipFill>
          <a:blip r:embed="rId4"/>
          <a:stretch>
            <a:fillRect/>
          </a:stretch>
        </p:blipFill>
        <p:spPr>
          <a:xfrm>
            <a:off x="5975055" y="5024079"/>
            <a:ext cx="266273" cy="266273"/>
          </a:xfrm>
          <a:prstGeom prst="rect">
            <a:avLst/>
          </a:prstGeom>
        </p:spPr>
      </p:pic>
      <p:sp>
        <p:nvSpPr>
          <p:cNvPr id="20" name="Apps text"/>
          <p:cNvSpPr txBox="1"/>
          <p:nvPr/>
        </p:nvSpPr>
        <p:spPr>
          <a:xfrm>
            <a:off x="6537960" y="4846320"/>
            <a:ext cx="5102352" cy="658368"/>
          </a:xfrm>
          <a:prstGeom prst="rect">
            <a:avLst/>
          </a:prstGeom>
          <a:noFill/>
          <a:ln/>
        </p:spPr>
        <p:txBody>
          <a:bodyPr wrap="square" lIns="0" tIns="0" rIns="0" bIns="0" rtlCol="0" anchor="t"/>
          <a:lstStyle/>
          <a:p>
            <a:pPr indent="0" marL="0">
              <a:buNone/>
            </a:pPr>
            <a:r>
              <a:rPr lang="en-US" sz="1700" b="1" dirty="0">
                <a:solidFill>
                  <a:schemeClr val="bg1"/>
                </a:solidFill>
              </a:rPr>
              <a:t>Apps</a:t>
            </a:r>
            <a:endParaRPr lang="en-US" sz="1700" dirty="0"/>
          </a:p>
          <a:p>
            <a:pPr indent="0" marL="0">
              <a:buNone/>
            </a:pPr>
            <a:r>
              <a:rPr lang="en-US" sz="1400" dirty="0">
                <a:solidFill>
                  <a:schemeClr val="bg2"/>
                </a:solidFill>
              </a:rPr>
              <a:t>Fake APKs that ask for SMS, accessibility and screen access</a:t>
            </a:r>
            <a:endParaRPr lang="en-US" sz="1700" dirty="0"/>
          </a:p>
        </p:txBody>
      </p:sp>
      <p:sp>
        <p:nvSpPr>
          <p:cNvPr id="21" name="Gap"/>
          <p:cNvSpPr txBox="1"/>
          <p:nvPr/>
        </p:nvSpPr>
        <p:spPr>
          <a:xfrm>
            <a:off x="5852160" y="5760720"/>
            <a:ext cx="5788152" cy="320040"/>
          </a:xfrm>
          <a:prstGeom prst="rect">
            <a:avLst/>
          </a:prstGeom>
          <a:noFill/>
          <a:ln/>
        </p:spPr>
        <p:txBody>
          <a:bodyPr wrap="square" lIns="0" tIns="0" rIns="0" bIns="0" rtlCol="0" anchor="ctr"/>
          <a:lstStyle/>
          <a:p>
            <a:pPr indent="0" marL="0">
              <a:buNone/>
            </a:pPr>
            <a:r>
              <a:rPr lang="en-US" sz="1400" i="1" dirty="0">
                <a:solidFill>
                  <a:schemeClr val="accent1"/>
                </a:solidFill>
              </a:rPr>
              <a:t>Most checkers give a verdict without showing why. Aegis shows the evidence.</a:t>
            </a:r>
            <a:endParaRPr lang="en-US" sz="14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3" type="body" hasCustomPrompt="1"/>
          </p:nvPr>
        </p:nvSpPr>
        <p:spPr>
          <a:xfrm>
            <a:off x="548640" y="109728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WHAT AEGIS DOES</a:t>
            </a:r>
            <a:endParaRPr lang="en-US" sz="1200" dirty="0"/>
          </a:p>
        </p:txBody>
      </p:sp>
      <p:sp>
        <p:nvSpPr>
          <p:cNvPr id="3" name="Text 1"/>
          <p:cNvSpPr/>
          <p:nvPr>
            <p:ph idx="104" type="title" hasCustomPrompt="1"/>
          </p:nvPr>
        </p:nvSpPr>
        <p:spPr>
          <a:xfrm>
            <a:off x="548640" y="1371600"/>
            <a:ext cx="11091672" cy="731520"/>
          </a:xfrm>
          <a:prstGeom prst="rect">
            <a:avLst/>
          </a:prstGeom>
          <a:noFill/>
          <a:ln/>
        </p:spPr>
        <p:txBody>
          <a:bodyPr wrap="square" lIns="0" tIns="0" rIns="0" bIns="0" rtlCol="0" anchor="t"/>
          <a:lstStyle/>
          <a:p>
            <a:pPr algn="l" indent="0" marL="0">
              <a:buNone/>
            </a:pPr>
            <a:r>
              <a:rPr lang="en-US" sz="3600" b="1" dirty="0">
                <a:solidFill>
                  <a:schemeClr val="bg1"/>
                </a:solidFill>
                <a:latin typeface="Arial" pitchFamily="34" charset="0"/>
                <a:ea typeface="Arial" pitchFamily="34" charset="-122"/>
                <a:cs typeface="Arial" pitchFamily="34" charset="-120"/>
              </a:rPr>
              <a:t>One place to investigate anything suspicious</a:t>
            </a:r>
            <a:endParaRPr lang="en-US" sz="3600" dirty="0"/>
          </a:p>
        </p:txBody>
      </p:sp>
      <p:sp>
        <p:nvSpPr>
          <p:cNvPr id="4" name="Link investigation card"/>
          <p:cNvSpPr/>
          <p:nvPr/>
        </p:nvSpPr>
        <p:spPr>
          <a:xfrm>
            <a:off x="548640" y="2331720"/>
            <a:ext cx="3514344" cy="1783080"/>
          </a:xfrm>
          <a:prstGeom prst="roundRect">
            <a:avLst>
              <a:gd name="adj" fmla="val 6154"/>
            </a:avLst>
          </a:prstGeom>
          <a:solidFill>
            <a:schemeClr val="tx2"/>
          </a:solidFill>
          <a:ln w="9525">
            <a:solidFill>
              <a:schemeClr val="accent1">
                <a:alpha val="18000"/>
              </a:schemeClr>
            </a:solidFill>
            <a:prstDash val="solid"/>
          </a:ln>
        </p:spPr>
      </p:sp>
      <p:sp>
        <p:nvSpPr>
          <p:cNvPr id="5" name="Link investigation circle"/>
          <p:cNvSpPr/>
          <p:nvPr/>
        </p:nvSpPr>
        <p:spPr>
          <a:xfrm>
            <a:off x="822960" y="2606040"/>
            <a:ext cx="475488" cy="475488"/>
          </a:xfrm>
          <a:prstGeom prst="ellipse">
            <a:avLst/>
          </a:prstGeom>
          <a:solidFill>
            <a:schemeClr val="accent1">
              <a:alpha val="18000"/>
            </a:schemeClr>
          </a:solidFill>
          <a:ln/>
        </p:spPr>
      </p:sp>
      <p:pic>
        <p:nvPicPr>
          <p:cNvPr id="6" name="Link investigation icon" descr="preencoded.png">    </p:cNvPr>
          <p:cNvPicPr>
            <a:picLocks noChangeAspect="1"/>
          </p:cNvPicPr>
          <p:nvPr/>
        </p:nvPicPr>
        <p:blipFill>
          <a:blip r:embed="rId1"/>
          <a:stretch>
            <a:fillRect/>
          </a:stretch>
        </p:blipFill>
        <p:spPr>
          <a:xfrm>
            <a:off x="937077" y="2720157"/>
            <a:ext cx="247254" cy="247254"/>
          </a:xfrm>
          <a:prstGeom prst="rect">
            <a:avLst/>
          </a:prstGeom>
        </p:spPr>
      </p:pic>
      <p:sp>
        <p:nvSpPr>
          <p:cNvPr id="7" name="Link investigation title"/>
          <p:cNvSpPr txBox="1"/>
          <p:nvPr/>
        </p:nvSpPr>
        <p:spPr>
          <a:xfrm>
            <a:off x="1444752" y="2606040"/>
            <a:ext cx="2417064" cy="475488"/>
          </a:xfrm>
          <a:prstGeom prst="rect">
            <a:avLst/>
          </a:prstGeom>
          <a:noFill/>
          <a:ln/>
        </p:spPr>
        <p:txBody>
          <a:bodyPr wrap="square" lIns="0" tIns="0" rIns="0" bIns="0" rtlCol="0" anchor="ctr"/>
          <a:lstStyle/>
          <a:p>
            <a:pPr indent="0" marL="0">
              <a:buNone/>
            </a:pPr>
            <a:r>
              <a:rPr lang="en-US" sz="1700" b="1" dirty="0">
                <a:solidFill>
                  <a:schemeClr val="bg1"/>
                </a:solidFill>
              </a:rPr>
              <a:t>Link investigation</a:t>
            </a:r>
            <a:endParaRPr lang="en-US" sz="1700" dirty="0"/>
          </a:p>
        </p:txBody>
      </p:sp>
      <p:sp>
        <p:nvSpPr>
          <p:cNvPr id="8" name="Link investigation text"/>
          <p:cNvSpPr txBox="1"/>
          <p:nvPr/>
        </p:nvSpPr>
        <p:spPr>
          <a:xfrm>
            <a:off x="822960" y="3227832"/>
            <a:ext cx="2965704" cy="731520"/>
          </a:xfrm>
          <a:prstGeom prst="rect">
            <a:avLst/>
          </a:prstGeom>
          <a:noFill/>
          <a:ln/>
        </p:spPr>
        <p:txBody>
          <a:bodyPr wrap="square" lIns="0" tIns="0" rIns="0" bIns="0" rtlCol="0" anchor="t"/>
          <a:lstStyle/>
          <a:p>
            <a:pPr indent="0" marL="0">
              <a:buNone/>
            </a:pPr>
            <a:r>
              <a:rPr lang="en-US" sz="1400" dirty="0">
                <a:solidFill>
                  <a:schemeClr val="bg2"/>
                </a:solidFill>
              </a:rPr>
              <a:t>Domain age, DNS, hosting, certificate and every redirect, checked on our server.</a:t>
            </a:r>
            <a:endParaRPr lang="en-US" sz="1400" dirty="0"/>
          </a:p>
        </p:txBody>
      </p:sp>
      <p:sp>
        <p:nvSpPr>
          <p:cNvPr id="9" name="Message check card"/>
          <p:cNvSpPr/>
          <p:nvPr/>
        </p:nvSpPr>
        <p:spPr>
          <a:xfrm>
            <a:off x="4337304" y="2331720"/>
            <a:ext cx="3514344" cy="1783080"/>
          </a:xfrm>
          <a:prstGeom prst="roundRect">
            <a:avLst>
              <a:gd name="adj" fmla="val 6154"/>
            </a:avLst>
          </a:prstGeom>
          <a:solidFill>
            <a:schemeClr val="tx2"/>
          </a:solidFill>
          <a:ln w="9525">
            <a:solidFill>
              <a:schemeClr val="accent1">
                <a:alpha val="18000"/>
              </a:schemeClr>
            </a:solidFill>
            <a:prstDash val="solid"/>
          </a:ln>
        </p:spPr>
      </p:sp>
      <p:sp>
        <p:nvSpPr>
          <p:cNvPr id="10" name="Message check circle"/>
          <p:cNvSpPr/>
          <p:nvPr/>
        </p:nvSpPr>
        <p:spPr>
          <a:xfrm>
            <a:off x="4611624" y="2606040"/>
            <a:ext cx="475488" cy="475488"/>
          </a:xfrm>
          <a:prstGeom prst="ellipse">
            <a:avLst/>
          </a:prstGeom>
          <a:solidFill>
            <a:schemeClr val="accent1">
              <a:alpha val="18000"/>
            </a:schemeClr>
          </a:solidFill>
          <a:ln/>
        </p:spPr>
      </p:sp>
      <p:pic>
        <p:nvPicPr>
          <p:cNvPr id="11" name="Message check icon" descr="preencoded.png">    </p:cNvPr>
          <p:cNvPicPr>
            <a:picLocks noChangeAspect="1"/>
          </p:cNvPicPr>
          <p:nvPr/>
        </p:nvPicPr>
        <p:blipFill>
          <a:blip r:embed="rId2"/>
          <a:stretch>
            <a:fillRect/>
          </a:stretch>
        </p:blipFill>
        <p:spPr>
          <a:xfrm>
            <a:off x="4725741" y="2720157"/>
            <a:ext cx="247254" cy="247254"/>
          </a:xfrm>
          <a:prstGeom prst="rect">
            <a:avLst/>
          </a:prstGeom>
        </p:spPr>
      </p:pic>
      <p:sp>
        <p:nvSpPr>
          <p:cNvPr id="12" name="Message check title"/>
          <p:cNvSpPr txBox="1"/>
          <p:nvPr/>
        </p:nvSpPr>
        <p:spPr>
          <a:xfrm>
            <a:off x="5233416" y="2606040"/>
            <a:ext cx="2417064" cy="475488"/>
          </a:xfrm>
          <a:prstGeom prst="rect">
            <a:avLst/>
          </a:prstGeom>
          <a:noFill/>
          <a:ln/>
        </p:spPr>
        <p:txBody>
          <a:bodyPr wrap="square" lIns="0" tIns="0" rIns="0" bIns="0" rtlCol="0" anchor="ctr"/>
          <a:lstStyle/>
          <a:p>
            <a:pPr indent="0" marL="0">
              <a:buNone/>
            </a:pPr>
            <a:r>
              <a:rPr lang="en-US" sz="1700" b="1" dirty="0">
                <a:solidFill>
                  <a:schemeClr val="bg1"/>
                </a:solidFill>
              </a:rPr>
              <a:t>Message check</a:t>
            </a:r>
            <a:endParaRPr lang="en-US" sz="1700" dirty="0"/>
          </a:p>
        </p:txBody>
      </p:sp>
      <p:sp>
        <p:nvSpPr>
          <p:cNvPr id="13" name="Message check text"/>
          <p:cNvSpPr txBox="1"/>
          <p:nvPr/>
        </p:nvSpPr>
        <p:spPr>
          <a:xfrm>
            <a:off x="4611624" y="3227832"/>
            <a:ext cx="2965704" cy="731520"/>
          </a:xfrm>
          <a:prstGeom prst="rect">
            <a:avLst/>
          </a:prstGeom>
          <a:noFill/>
          <a:ln/>
        </p:spPr>
        <p:txBody>
          <a:bodyPr wrap="square" lIns="0" tIns="0" rIns="0" bIns="0" rtlCol="0" anchor="t"/>
          <a:lstStyle/>
          <a:p>
            <a:pPr indent="0" marL="0">
              <a:buNone/>
            </a:pPr>
            <a:r>
              <a:rPr lang="en-US" sz="1400" dirty="0">
                <a:solidFill>
                  <a:schemeClr val="bg2"/>
                </a:solidFill>
              </a:rPr>
              <a:t>Finds OTP, KYC and payment pressure, and pulls out UPI IDs, numbers and links.</a:t>
            </a:r>
            <a:endParaRPr lang="en-US" sz="1400" dirty="0"/>
          </a:p>
        </p:txBody>
      </p:sp>
      <p:sp>
        <p:nvSpPr>
          <p:cNvPr id="14" name="Call screening card"/>
          <p:cNvSpPr/>
          <p:nvPr/>
        </p:nvSpPr>
        <p:spPr>
          <a:xfrm>
            <a:off x="8125968" y="2331720"/>
            <a:ext cx="3514344" cy="1783080"/>
          </a:xfrm>
          <a:prstGeom prst="roundRect">
            <a:avLst>
              <a:gd name="adj" fmla="val 6154"/>
            </a:avLst>
          </a:prstGeom>
          <a:solidFill>
            <a:schemeClr val="tx2"/>
          </a:solidFill>
          <a:ln w="9525">
            <a:solidFill>
              <a:schemeClr val="accent1">
                <a:alpha val="18000"/>
              </a:schemeClr>
            </a:solidFill>
            <a:prstDash val="solid"/>
          </a:ln>
        </p:spPr>
      </p:sp>
      <p:sp>
        <p:nvSpPr>
          <p:cNvPr id="15" name="Call screening circle"/>
          <p:cNvSpPr/>
          <p:nvPr/>
        </p:nvSpPr>
        <p:spPr>
          <a:xfrm>
            <a:off x="8400288" y="2606040"/>
            <a:ext cx="475488" cy="475488"/>
          </a:xfrm>
          <a:prstGeom prst="ellipse">
            <a:avLst/>
          </a:prstGeom>
          <a:solidFill>
            <a:schemeClr val="accent1">
              <a:alpha val="18000"/>
            </a:schemeClr>
          </a:solidFill>
          <a:ln/>
        </p:spPr>
      </p:sp>
      <p:pic>
        <p:nvPicPr>
          <p:cNvPr id="16" name="Call screening icon" descr="preencoded.png">    </p:cNvPr>
          <p:cNvPicPr>
            <a:picLocks noChangeAspect="1"/>
          </p:cNvPicPr>
          <p:nvPr/>
        </p:nvPicPr>
        <p:blipFill>
          <a:blip r:embed="rId3"/>
          <a:stretch>
            <a:fillRect/>
          </a:stretch>
        </p:blipFill>
        <p:spPr>
          <a:xfrm>
            <a:off x="8514405" y="2720157"/>
            <a:ext cx="247254" cy="247254"/>
          </a:xfrm>
          <a:prstGeom prst="rect">
            <a:avLst/>
          </a:prstGeom>
        </p:spPr>
      </p:pic>
      <p:sp>
        <p:nvSpPr>
          <p:cNvPr id="17" name="Call screening title"/>
          <p:cNvSpPr txBox="1"/>
          <p:nvPr/>
        </p:nvSpPr>
        <p:spPr>
          <a:xfrm>
            <a:off x="9022080" y="2606040"/>
            <a:ext cx="2417064" cy="475488"/>
          </a:xfrm>
          <a:prstGeom prst="rect">
            <a:avLst/>
          </a:prstGeom>
          <a:noFill/>
          <a:ln/>
        </p:spPr>
        <p:txBody>
          <a:bodyPr wrap="square" lIns="0" tIns="0" rIns="0" bIns="0" rtlCol="0" anchor="ctr"/>
          <a:lstStyle/>
          <a:p>
            <a:pPr indent="0" marL="0">
              <a:buNone/>
            </a:pPr>
            <a:r>
              <a:rPr lang="en-US" sz="1700" b="1" dirty="0">
                <a:solidFill>
                  <a:schemeClr val="bg1"/>
                </a:solidFill>
              </a:rPr>
              <a:t>Call screening</a:t>
            </a:r>
            <a:endParaRPr lang="en-US" sz="1700" dirty="0"/>
          </a:p>
        </p:txBody>
      </p:sp>
      <p:sp>
        <p:nvSpPr>
          <p:cNvPr id="18" name="Call screening text"/>
          <p:cNvSpPr txBox="1"/>
          <p:nvPr/>
        </p:nvSpPr>
        <p:spPr>
          <a:xfrm>
            <a:off x="8400288" y="3227832"/>
            <a:ext cx="2965704" cy="731520"/>
          </a:xfrm>
          <a:prstGeom prst="rect">
            <a:avLst/>
          </a:prstGeom>
          <a:noFill/>
          <a:ln/>
        </p:spPr>
        <p:txBody>
          <a:bodyPr wrap="square" lIns="0" tIns="0" rIns="0" bIns="0" rtlCol="0" anchor="t"/>
          <a:lstStyle/>
          <a:p>
            <a:pPr indent="0" marL="0">
              <a:buNone/>
            </a:pPr>
            <a:r>
              <a:rPr lang="en-US" sz="1400" dirty="0">
                <a:solidFill>
                  <a:schemeClr val="bg2"/>
                </a:solidFill>
              </a:rPr>
              <a:t>Flags bank, police and courier impersonation and quotes the exact words back.</a:t>
            </a:r>
            <a:endParaRPr lang="en-US" sz="1400" dirty="0"/>
          </a:p>
        </p:txBody>
      </p:sp>
      <p:sp>
        <p:nvSpPr>
          <p:cNvPr id="19" name="App (APK) scan card"/>
          <p:cNvSpPr/>
          <p:nvPr/>
        </p:nvSpPr>
        <p:spPr>
          <a:xfrm>
            <a:off x="548640" y="4389120"/>
            <a:ext cx="3514344" cy="1783080"/>
          </a:xfrm>
          <a:prstGeom prst="roundRect">
            <a:avLst>
              <a:gd name="adj" fmla="val 6154"/>
            </a:avLst>
          </a:prstGeom>
          <a:solidFill>
            <a:schemeClr val="tx2"/>
          </a:solidFill>
          <a:ln w="9525">
            <a:solidFill>
              <a:schemeClr val="accent1">
                <a:alpha val="18000"/>
              </a:schemeClr>
            </a:solidFill>
            <a:prstDash val="solid"/>
          </a:ln>
        </p:spPr>
      </p:sp>
      <p:sp>
        <p:nvSpPr>
          <p:cNvPr id="20" name="App (APK) scan circle"/>
          <p:cNvSpPr/>
          <p:nvPr/>
        </p:nvSpPr>
        <p:spPr>
          <a:xfrm>
            <a:off x="822960" y="4663440"/>
            <a:ext cx="475488" cy="475488"/>
          </a:xfrm>
          <a:prstGeom prst="ellipse">
            <a:avLst/>
          </a:prstGeom>
          <a:solidFill>
            <a:schemeClr val="accent1">
              <a:alpha val="18000"/>
            </a:schemeClr>
          </a:solidFill>
          <a:ln/>
        </p:spPr>
      </p:sp>
      <p:pic>
        <p:nvPicPr>
          <p:cNvPr id="21" name="App (APK) scan icon" descr="preencoded.png">    </p:cNvPr>
          <p:cNvPicPr>
            <a:picLocks noChangeAspect="1"/>
          </p:cNvPicPr>
          <p:nvPr/>
        </p:nvPicPr>
        <p:blipFill>
          <a:blip r:embed="rId4"/>
          <a:stretch>
            <a:fillRect/>
          </a:stretch>
        </p:blipFill>
        <p:spPr>
          <a:xfrm>
            <a:off x="937077" y="4777557"/>
            <a:ext cx="247254" cy="247254"/>
          </a:xfrm>
          <a:prstGeom prst="rect">
            <a:avLst/>
          </a:prstGeom>
        </p:spPr>
      </p:pic>
      <p:sp>
        <p:nvSpPr>
          <p:cNvPr id="22" name="App (APK) scan title"/>
          <p:cNvSpPr txBox="1"/>
          <p:nvPr/>
        </p:nvSpPr>
        <p:spPr>
          <a:xfrm>
            <a:off x="1444752" y="4663440"/>
            <a:ext cx="2417064" cy="475488"/>
          </a:xfrm>
          <a:prstGeom prst="rect">
            <a:avLst/>
          </a:prstGeom>
          <a:noFill/>
          <a:ln/>
        </p:spPr>
        <p:txBody>
          <a:bodyPr wrap="square" lIns="0" tIns="0" rIns="0" bIns="0" rtlCol="0" anchor="ctr"/>
          <a:lstStyle/>
          <a:p>
            <a:pPr indent="0" marL="0">
              <a:buNone/>
            </a:pPr>
            <a:r>
              <a:rPr lang="en-US" sz="1700" b="1" dirty="0">
                <a:solidFill>
                  <a:schemeClr val="bg1"/>
                </a:solidFill>
              </a:rPr>
              <a:t>App (APK) scan</a:t>
            </a:r>
            <a:endParaRPr lang="en-US" sz="1700" dirty="0"/>
          </a:p>
        </p:txBody>
      </p:sp>
      <p:sp>
        <p:nvSpPr>
          <p:cNvPr id="23" name="App (APK) scan text"/>
          <p:cNvSpPr txBox="1"/>
          <p:nvPr/>
        </p:nvSpPr>
        <p:spPr>
          <a:xfrm>
            <a:off x="822960" y="5285232"/>
            <a:ext cx="2965704" cy="731520"/>
          </a:xfrm>
          <a:prstGeom prst="rect">
            <a:avLst/>
          </a:prstGeom>
          <a:noFill/>
          <a:ln/>
        </p:spPr>
        <p:txBody>
          <a:bodyPr wrap="square" lIns="0" tIns="0" rIns="0" bIns="0" rtlCol="0" anchor="t"/>
          <a:lstStyle/>
          <a:p>
            <a:pPr indent="0" marL="0">
              <a:buNone/>
            </a:pPr>
            <a:r>
              <a:rPr lang="en-US" sz="1400" dirty="0">
                <a:solidFill>
                  <a:schemeClr val="bg2"/>
                </a:solidFill>
              </a:rPr>
              <a:t>Reads permissions, signing certificate and network settings without installing.</a:t>
            </a:r>
            <a:endParaRPr lang="en-US" sz="1400" dirty="0"/>
          </a:p>
        </p:txBody>
      </p:sp>
      <p:sp>
        <p:nvSpPr>
          <p:cNvPr id="24" name="Website code scan card"/>
          <p:cNvSpPr/>
          <p:nvPr/>
        </p:nvSpPr>
        <p:spPr>
          <a:xfrm>
            <a:off x="4337304" y="4389120"/>
            <a:ext cx="3514344" cy="1783080"/>
          </a:xfrm>
          <a:prstGeom prst="roundRect">
            <a:avLst>
              <a:gd name="adj" fmla="val 6154"/>
            </a:avLst>
          </a:prstGeom>
          <a:solidFill>
            <a:schemeClr val="tx2"/>
          </a:solidFill>
          <a:ln w="9525">
            <a:solidFill>
              <a:schemeClr val="accent1">
                <a:alpha val="18000"/>
              </a:schemeClr>
            </a:solidFill>
            <a:prstDash val="solid"/>
          </a:ln>
        </p:spPr>
      </p:sp>
      <p:sp>
        <p:nvSpPr>
          <p:cNvPr id="25" name="Website code scan circle"/>
          <p:cNvSpPr/>
          <p:nvPr/>
        </p:nvSpPr>
        <p:spPr>
          <a:xfrm>
            <a:off x="4611624" y="4663440"/>
            <a:ext cx="475488" cy="475488"/>
          </a:xfrm>
          <a:prstGeom prst="ellipse">
            <a:avLst/>
          </a:prstGeom>
          <a:solidFill>
            <a:schemeClr val="accent1">
              <a:alpha val="18000"/>
            </a:schemeClr>
          </a:solidFill>
          <a:ln/>
        </p:spPr>
      </p:sp>
      <p:pic>
        <p:nvPicPr>
          <p:cNvPr id="26" name="Website code scan icon" descr="preencoded.png">    </p:cNvPr>
          <p:cNvPicPr>
            <a:picLocks noChangeAspect="1"/>
          </p:cNvPicPr>
          <p:nvPr/>
        </p:nvPicPr>
        <p:blipFill>
          <a:blip r:embed="rId5"/>
          <a:stretch>
            <a:fillRect/>
          </a:stretch>
        </p:blipFill>
        <p:spPr>
          <a:xfrm>
            <a:off x="4725741" y="4777557"/>
            <a:ext cx="247254" cy="247254"/>
          </a:xfrm>
          <a:prstGeom prst="rect">
            <a:avLst/>
          </a:prstGeom>
        </p:spPr>
      </p:pic>
      <p:sp>
        <p:nvSpPr>
          <p:cNvPr id="27" name="Website code scan title"/>
          <p:cNvSpPr txBox="1"/>
          <p:nvPr/>
        </p:nvSpPr>
        <p:spPr>
          <a:xfrm>
            <a:off x="5233416" y="4663440"/>
            <a:ext cx="2417064" cy="475488"/>
          </a:xfrm>
          <a:prstGeom prst="rect">
            <a:avLst/>
          </a:prstGeom>
          <a:noFill/>
          <a:ln/>
        </p:spPr>
        <p:txBody>
          <a:bodyPr wrap="square" lIns="0" tIns="0" rIns="0" bIns="0" rtlCol="0" anchor="ctr"/>
          <a:lstStyle/>
          <a:p>
            <a:pPr indent="0" marL="0">
              <a:buNone/>
            </a:pPr>
            <a:r>
              <a:rPr lang="en-US" sz="1700" b="1" dirty="0">
                <a:solidFill>
                  <a:schemeClr val="bg1"/>
                </a:solidFill>
              </a:rPr>
              <a:t>Website code scan</a:t>
            </a:r>
            <a:endParaRPr lang="en-US" sz="1700" dirty="0"/>
          </a:p>
        </p:txBody>
      </p:sp>
      <p:sp>
        <p:nvSpPr>
          <p:cNvPr id="28" name="Website code scan text"/>
          <p:cNvSpPr txBox="1"/>
          <p:nvPr/>
        </p:nvSpPr>
        <p:spPr>
          <a:xfrm>
            <a:off x="4611624" y="5285232"/>
            <a:ext cx="2965704" cy="731520"/>
          </a:xfrm>
          <a:prstGeom prst="rect">
            <a:avLst/>
          </a:prstGeom>
          <a:noFill/>
          <a:ln/>
        </p:spPr>
        <p:txBody>
          <a:bodyPr wrap="square" lIns="0" tIns="0" rIns="0" bIns="0" rtlCol="0" anchor="t"/>
          <a:lstStyle/>
          <a:p>
            <a:pPr indent="0" marL="0">
              <a:buNone/>
            </a:pPr>
            <a:r>
              <a:rPr lang="en-US" sz="1400" dirty="0">
                <a:solidFill>
                  <a:schemeClr val="bg2"/>
                </a:solidFill>
              </a:rPr>
              <a:t>Finds leaked secrets, missing security headers and vulnerable packages.</a:t>
            </a:r>
            <a:endParaRPr lang="en-US" sz="1400" dirty="0"/>
          </a:p>
        </p:txBody>
      </p:sp>
      <p:sp>
        <p:nvSpPr>
          <p:cNvPr id="29" name="Cases and reports card"/>
          <p:cNvSpPr/>
          <p:nvPr/>
        </p:nvSpPr>
        <p:spPr>
          <a:xfrm>
            <a:off x="8125968" y="4389120"/>
            <a:ext cx="3514344" cy="1783080"/>
          </a:xfrm>
          <a:prstGeom prst="roundRect">
            <a:avLst>
              <a:gd name="adj" fmla="val 6154"/>
            </a:avLst>
          </a:prstGeom>
          <a:solidFill>
            <a:schemeClr val="tx2"/>
          </a:solidFill>
          <a:ln w="9525">
            <a:solidFill>
              <a:schemeClr val="accent1">
                <a:alpha val="18000"/>
              </a:schemeClr>
            </a:solidFill>
            <a:prstDash val="solid"/>
          </a:ln>
        </p:spPr>
      </p:sp>
      <p:sp>
        <p:nvSpPr>
          <p:cNvPr id="30" name="Cases and reports circle"/>
          <p:cNvSpPr/>
          <p:nvPr/>
        </p:nvSpPr>
        <p:spPr>
          <a:xfrm>
            <a:off x="8400288" y="4663440"/>
            <a:ext cx="475488" cy="475488"/>
          </a:xfrm>
          <a:prstGeom prst="ellipse">
            <a:avLst/>
          </a:prstGeom>
          <a:solidFill>
            <a:schemeClr val="accent1">
              <a:alpha val="18000"/>
            </a:schemeClr>
          </a:solidFill>
          <a:ln/>
        </p:spPr>
      </p:sp>
      <p:pic>
        <p:nvPicPr>
          <p:cNvPr id="31" name="Cases and reports icon" descr="preencoded.png">    </p:cNvPr>
          <p:cNvPicPr>
            <a:picLocks noChangeAspect="1"/>
          </p:cNvPicPr>
          <p:nvPr/>
        </p:nvPicPr>
        <p:blipFill>
          <a:blip r:embed="rId6"/>
          <a:stretch>
            <a:fillRect/>
          </a:stretch>
        </p:blipFill>
        <p:spPr>
          <a:xfrm>
            <a:off x="8514405" y="4777557"/>
            <a:ext cx="247254" cy="247254"/>
          </a:xfrm>
          <a:prstGeom prst="rect">
            <a:avLst/>
          </a:prstGeom>
        </p:spPr>
      </p:pic>
      <p:sp>
        <p:nvSpPr>
          <p:cNvPr id="32" name="Cases and reports title"/>
          <p:cNvSpPr txBox="1"/>
          <p:nvPr/>
        </p:nvSpPr>
        <p:spPr>
          <a:xfrm>
            <a:off x="9022080" y="4663440"/>
            <a:ext cx="2417064" cy="475488"/>
          </a:xfrm>
          <a:prstGeom prst="rect">
            <a:avLst/>
          </a:prstGeom>
          <a:noFill/>
          <a:ln/>
        </p:spPr>
        <p:txBody>
          <a:bodyPr wrap="square" lIns="0" tIns="0" rIns="0" bIns="0" rtlCol="0" anchor="ctr"/>
          <a:lstStyle/>
          <a:p>
            <a:pPr indent="0" marL="0">
              <a:buNone/>
            </a:pPr>
            <a:r>
              <a:rPr lang="en-US" sz="1700" b="1" dirty="0">
                <a:solidFill>
                  <a:schemeClr val="bg1"/>
                </a:solidFill>
              </a:rPr>
              <a:t>Cases and reports</a:t>
            </a:r>
            <a:endParaRPr lang="en-US" sz="1700" dirty="0"/>
          </a:p>
        </p:txBody>
      </p:sp>
      <p:sp>
        <p:nvSpPr>
          <p:cNvPr id="33" name="Cases and reports text"/>
          <p:cNvSpPr txBox="1"/>
          <p:nvPr/>
        </p:nvSpPr>
        <p:spPr>
          <a:xfrm>
            <a:off x="8400288" y="5285232"/>
            <a:ext cx="2965704" cy="731520"/>
          </a:xfrm>
          <a:prstGeom prst="rect">
            <a:avLst/>
          </a:prstGeom>
          <a:noFill/>
          <a:ln/>
        </p:spPr>
        <p:txBody>
          <a:bodyPr wrap="square" lIns="0" tIns="0" rIns="0" bIns="0" rtlCol="0" anchor="t"/>
          <a:lstStyle/>
          <a:p>
            <a:pPr indent="0" marL="0">
              <a:buNone/>
            </a:pPr>
            <a:r>
              <a:rPr lang="en-US" sz="1400" dirty="0">
                <a:solidFill>
                  <a:schemeClr val="bg2"/>
                </a:solidFill>
              </a:rPr>
              <a:t>Every check becomes a case with evidence, ready for cybercrime.gov.in and 1930.</a:t>
            </a:r>
            <a:endParaRPr lang="en-US" sz="14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3" type="body" hasCustomPrompt="1"/>
          </p:nvPr>
        </p:nvSpPr>
        <p:spPr>
          <a:xfrm>
            <a:off x="548640" y="109728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HOW IT WORKS</a:t>
            </a:r>
            <a:endParaRPr lang="en-US" sz="1200" dirty="0"/>
          </a:p>
        </p:txBody>
      </p:sp>
      <p:sp>
        <p:nvSpPr>
          <p:cNvPr id="3" name="Text 1"/>
          <p:cNvSpPr/>
          <p:nvPr>
            <p:ph idx="104" type="title" hasCustomPrompt="1"/>
          </p:nvPr>
        </p:nvSpPr>
        <p:spPr>
          <a:xfrm>
            <a:off x="548640" y="1371600"/>
            <a:ext cx="11091672" cy="731520"/>
          </a:xfrm>
          <a:prstGeom prst="rect">
            <a:avLst/>
          </a:prstGeom>
          <a:noFill/>
          <a:ln/>
        </p:spPr>
        <p:txBody>
          <a:bodyPr wrap="square" lIns="0" tIns="0" rIns="0" bIns="0" rtlCol="0" anchor="t"/>
          <a:lstStyle/>
          <a:p>
            <a:pPr algn="l" indent="0" marL="0">
              <a:buNone/>
            </a:pPr>
            <a:r>
              <a:rPr lang="en-US" sz="3600" b="1" dirty="0">
                <a:solidFill>
                  <a:schemeClr val="bg1"/>
                </a:solidFill>
                <a:latin typeface="Arial" pitchFamily="34" charset="0"/>
                <a:ea typeface="Arial" pitchFamily="34" charset="-122"/>
                <a:cs typeface="Arial" pitchFamily="34" charset="-120"/>
              </a:rPr>
              <a:t>No verdict without evidence</a:t>
            </a:r>
            <a:endParaRPr lang="en-US" sz="3600" dirty="0"/>
          </a:p>
        </p:txBody>
      </p:sp>
      <p:sp>
        <p:nvSpPr>
          <p:cNvPr id="4" name="Step 1 circle"/>
          <p:cNvSpPr/>
          <p:nvPr/>
        </p:nvSpPr>
        <p:spPr>
          <a:xfrm>
            <a:off x="548640" y="2331720"/>
            <a:ext cx="475488" cy="475488"/>
          </a:xfrm>
          <a:prstGeom prst="ellipse">
            <a:avLst/>
          </a:prstGeom>
          <a:solidFill>
            <a:schemeClr val="accent2"/>
          </a:solidFill>
          <a:ln/>
        </p:spPr>
      </p:sp>
      <p:sp>
        <p:nvSpPr>
          <p:cNvPr id="5" name="Step 1 number"/>
          <p:cNvSpPr txBox="1"/>
          <p:nvPr/>
        </p:nvSpPr>
        <p:spPr>
          <a:xfrm>
            <a:off x="548640" y="2331720"/>
            <a:ext cx="475488" cy="475488"/>
          </a:xfrm>
          <a:prstGeom prst="rect">
            <a:avLst/>
          </a:prstGeom>
          <a:noFill/>
          <a:ln/>
        </p:spPr>
        <p:txBody>
          <a:bodyPr wrap="square" lIns="0" tIns="0" rIns="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1</a:t>
            </a:r>
            <a:endParaRPr lang="en-US" sz="1800" dirty="0"/>
          </a:p>
        </p:txBody>
      </p:sp>
      <p:sp>
        <p:nvSpPr>
          <p:cNvPr id="6" name="Step 1 text"/>
          <p:cNvSpPr txBox="1"/>
          <p:nvPr/>
        </p:nvSpPr>
        <p:spPr>
          <a:xfrm>
            <a:off x="1234440" y="2295144"/>
            <a:ext cx="4206240" cy="786384"/>
          </a:xfrm>
          <a:prstGeom prst="rect">
            <a:avLst/>
          </a:prstGeom>
          <a:noFill/>
          <a:ln/>
        </p:spPr>
        <p:txBody>
          <a:bodyPr wrap="square" lIns="0" tIns="0" rIns="0" bIns="0" rtlCol="0" anchor="t"/>
          <a:lstStyle/>
          <a:p>
            <a:pPr indent="0" marL="0">
              <a:buNone/>
            </a:pPr>
            <a:r>
              <a:rPr lang="en-US" sz="1700" b="1" dirty="0">
                <a:solidFill>
                  <a:schemeClr val="bg1"/>
                </a:solidFill>
              </a:rPr>
              <a:t>Submit</a:t>
            </a:r>
            <a:endParaRPr lang="en-US" sz="1700" dirty="0"/>
          </a:p>
          <a:p>
            <a:pPr indent="0" marL="0">
              <a:buNone/>
            </a:pPr>
            <a:r>
              <a:rPr lang="en-US" sz="1400" dirty="0">
                <a:solidFill>
                  <a:schemeClr val="bg2"/>
                </a:solidFill>
              </a:rPr>
              <a:t>A link, a message, a call recording or transcript, or an APK.</a:t>
            </a:r>
            <a:endParaRPr lang="en-US" sz="1700" dirty="0"/>
          </a:p>
        </p:txBody>
      </p:sp>
      <p:sp>
        <p:nvSpPr>
          <p:cNvPr id="7" name="Step 2 circle"/>
          <p:cNvSpPr/>
          <p:nvPr/>
        </p:nvSpPr>
        <p:spPr>
          <a:xfrm>
            <a:off x="548640" y="3182112"/>
            <a:ext cx="475488" cy="475488"/>
          </a:xfrm>
          <a:prstGeom prst="ellipse">
            <a:avLst/>
          </a:prstGeom>
          <a:solidFill>
            <a:schemeClr val="accent2"/>
          </a:solidFill>
          <a:ln/>
        </p:spPr>
      </p:sp>
      <p:sp>
        <p:nvSpPr>
          <p:cNvPr id="8" name="Step 2 number"/>
          <p:cNvSpPr txBox="1"/>
          <p:nvPr/>
        </p:nvSpPr>
        <p:spPr>
          <a:xfrm>
            <a:off x="548640" y="3182112"/>
            <a:ext cx="475488" cy="475488"/>
          </a:xfrm>
          <a:prstGeom prst="rect">
            <a:avLst/>
          </a:prstGeom>
          <a:noFill/>
          <a:ln/>
        </p:spPr>
        <p:txBody>
          <a:bodyPr wrap="square" lIns="0" tIns="0" rIns="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2</a:t>
            </a:r>
            <a:endParaRPr lang="en-US" sz="1800" dirty="0"/>
          </a:p>
        </p:txBody>
      </p:sp>
      <p:sp>
        <p:nvSpPr>
          <p:cNvPr id="9" name="Step 2 text"/>
          <p:cNvSpPr txBox="1"/>
          <p:nvPr/>
        </p:nvSpPr>
        <p:spPr>
          <a:xfrm>
            <a:off x="1234440" y="3145536"/>
            <a:ext cx="4206240" cy="786384"/>
          </a:xfrm>
          <a:prstGeom prst="rect">
            <a:avLst/>
          </a:prstGeom>
          <a:noFill/>
          <a:ln/>
        </p:spPr>
        <p:txBody>
          <a:bodyPr wrap="square" lIns="0" tIns="0" rIns="0" bIns="0" rtlCol="0" anchor="t"/>
          <a:lstStyle/>
          <a:p>
            <a:pPr indent="0" marL="0">
              <a:buNone/>
            </a:pPr>
            <a:r>
              <a:rPr lang="en-US" sz="1700" b="1" dirty="0">
                <a:solidFill>
                  <a:schemeClr val="bg1"/>
                </a:solidFill>
              </a:rPr>
              <a:t>Check</a:t>
            </a:r>
            <a:endParaRPr lang="en-US" sz="1700" dirty="0"/>
          </a:p>
          <a:p>
            <a:pPr indent="0" marL="0">
              <a:buNone/>
            </a:pPr>
            <a:r>
              <a:rPr lang="en-US" sz="1400" dirty="0">
                <a:solidFill>
                  <a:schemeClr val="bg2"/>
                </a:solidFill>
              </a:rPr>
              <a:t>Checks run on our server, never your device; private addresses are blocked.</a:t>
            </a:r>
            <a:endParaRPr lang="en-US" sz="1700" dirty="0"/>
          </a:p>
        </p:txBody>
      </p:sp>
      <p:sp>
        <p:nvSpPr>
          <p:cNvPr id="10" name="Step 3 circle"/>
          <p:cNvSpPr/>
          <p:nvPr/>
        </p:nvSpPr>
        <p:spPr>
          <a:xfrm>
            <a:off x="548640" y="4032504"/>
            <a:ext cx="475488" cy="475488"/>
          </a:xfrm>
          <a:prstGeom prst="ellipse">
            <a:avLst/>
          </a:prstGeom>
          <a:solidFill>
            <a:schemeClr val="accent2"/>
          </a:solidFill>
          <a:ln/>
        </p:spPr>
      </p:sp>
      <p:sp>
        <p:nvSpPr>
          <p:cNvPr id="11" name="Step 3 number"/>
          <p:cNvSpPr txBox="1"/>
          <p:nvPr/>
        </p:nvSpPr>
        <p:spPr>
          <a:xfrm>
            <a:off x="548640" y="4032504"/>
            <a:ext cx="475488" cy="475488"/>
          </a:xfrm>
          <a:prstGeom prst="rect">
            <a:avLst/>
          </a:prstGeom>
          <a:noFill/>
          <a:ln/>
        </p:spPr>
        <p:txBody>
          <a:bodyPr wrap="square" lIns="0" tIns="0" rIns="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3</a:t>
            </a:r>
            <a:endParaRPr lang="en-US" sz="1800" dirty="0"/>
          </a:p>
        </p:txBody>
      </p:sp>
      <p:sp>
        <p:nvSpPr>
          <p:cNvPr id="12" name="Step 3 text"/>
          <p:cNvSpPr txBox="1"/>
          <p:nvPr/>
        </p:nvSpPr>
        <p:spPr>
          <a:xfrm>
            <a:off x="1234440" y="3995928"/>
            <a:ext cx="4206240" cy="786384"/>
          </a:xfrm>
          <a:prstGeom prst="rect">
            <a:avLst/>
          </a:prstGeom>
          <a:noFill/>
          <a:ln/>
        </p:spPr>
        <p:txBody>
          <a:bodyPr wrap="square" lIns="0" tIns="0" rIns="0" bIns="0" rtlCol="0" anchor="t"/>
          <a:lstStyle/>
          <a:p>
            <a:pPr indent="0" marL="0">
              <a:buNone/>
            </a:pPr>
            <a:r>
              <a:rPr lang="en-US" sz="1700" b="1" dirty="0">
                <a:solidFill>
                  <a:schemeClr val="bg1"/>
                </a:solidFill>
              </a:rPr>
              <a:t>Score</a:t>
            </a:r>
            <a:endParaRPr lang="en-US" sz="1700" dirty="0"/>
          </a:p>
          <a:p>
            <a:pPr indent="0" marL="0">
              <a:buNone/>
            </a:pPr>
            <a:r>
              <a:rPr lang="en-US" sz="1400" dirty="0">
                <a:solidFill>
                  <a:schemeClr val="bg2"/>
                </a:solidFill>
              </a:rPr>
              <a:t>Each indicator adds points by severity; unverified hints add nothing.</a:t>
            </a:r>
            <a:endParaRPr lang="en-US" sz="1700" dirty="0"/>
          </a:p>
        </p:txBody>
      </p:sp>
      <p:sp>
        <p:nvSpPr>
          <p:cNvPr id="13" name="Step 4 circle"/>
          <p:cNvSpPr/>
          <p:nvPr/>
        </p:nvSpPr>
        <p:spPr>
          <a:xfrm>
            <a:off x="548640" y="4882896"/>
            <a:ext cx="475488" cy="475488"/>
          </a:xfrm>
          <a:prstGeom prst="ellipse">
            <a:avLst/>
          </a:prstGeom>
          <a:solidFill>
            <a:schemeClr val="accent2"/>
          </a:solidFill>
          <a:ln/>
        </p:spPr>
      </p:sp>
      <p:sp>
        <p:nvSpPr>
          <p:cNvPr id="14" name="Step 4 number"/>
          <p:cNvSpPr txBox="1"/>
          <p:nvPr/>
        </p:nvSpPr>
        <p:spPr>
          <a:xfrm>
            <a:off x="548640" y="4882896"/>
            <a:ext cx="475488" cy="475488"/>
          </a:xfrm>
          <a:prstGeom prst="rect">
            <a:avLst/>
          </a:prstGeom>
          <a:noFill/>
          <a:ln/>
        </p:spPr>
        <p:txBody>
          <a:bodyPr wrap="square" lIns="0" tIns="0" rIns="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4</a:t>
            </a:r>
            <a:endParaRPr lang="en-US" sz="1800" dirty="0"/>
          </a:p>
        </p:txBody>
      </p:sp>
      <p:sp>
        <p:nvSpPr>
          <p:cNvPr id="15" name="Step 4 text"/>
          <p:cNvSpPr txBox="1"/>
          <p:nvPr/>
        </p:nvSpPr>
        <p:spPr>
          <a:xfrm>
            <a:off x="1234440" y="4846320"/>
            <a:ext cx="4206240" cy="786384"/>
          </a:xfrm>
          <a:prstGeom prst="rect">
            <a:avLst/>
          </a:prstGeom>
          <a:noFill/>
          <a:ln/>
        </p:spPr>
        <p:txBody>
          <a:bodyPr wrap="square" lIns="0" tIns="0" rIns="0" bIns="0" rtlCol="0" anchor="t"/>
          <a:lstStyle/>
          <a:p>
            <a:pPr indent="0" marL="0">
              <a:buNone/>
            </a:pPr>
            <a:r>
              <a:rPr lang="en-US" sz="1700" b="1" dirty="0">
                <a:solidFill>
                  <a:schemeClr val="bg1"/>
                </a:solidFill>
              </a:rPr>
              <a:t>Act</a:t>
            </a:r>
            <a:endParaRPr lang="en-US" sz="1700" dirty="0"/>
          </a:p>
          <a:p>
            <a:pPr indent="0" marL="0">
              <a:buNone/>
            </a:pPr>
            <a:r>
              <a:rPr lang="en-US" sz="1400" dirty="0">
                <a:solidFill>
                  <a:schemeClr val="bg2"/>
                </a:solidFill>
              </a:rPr>
              <a:t>Clear next steps, a saved case and a report ready to file.</a:t>
            </a:r>
            <a:endParaRPr lang="en-US" sz="1700" dirty="0"/>
          </a:p>
        </p:txBody>
      </p:sp>
      <p:sp>
        <p:nvSpPr>
          <p:cNvPr id="16" name="Band 1"/>
          <p:cNvSpPr/>
          <p:nvPr/>
        </p:nvSpPr>
        <p:spPr>
          <a:xfrm>
            <a:off x="548640" y="5779008"/>
            <a:ext cx="1168146" cy="365760"/>
          </a:xfrm>
          <a:prstGeom prst="roundRect">
            <a:avLst>
              <a:gd name="adj" fmla="val 20000"/>
            </a:avLst>
          </a:prstGeom>
          <a:solidFill>
            <a:schemeClr val="accent3"/>
          </a:solidFill>
          <a:ln/>
        </p:spPr>
      </p:sp>
      <p:sp>
        <p:nvSpPr>
          <p:cNvPr id="17" name="Band 1 label"/>
          <p:cNvSpPr txBox="1"/>
          <p:nvPr/>
        </p:nvSpPr>
        <p:spPr>
          <a:xfrm>
            <a:off x="548640" y="5779008"/>
            <a:ext cx="1168146" cy="365760"/>
          </a:xfrm>
          <a:prstGeom prst="rect">
            <a:avLst/>
          </a:prstGeom>
          <a:noFill/>
          <a:ln/>
        </p:spPr>
        <p:txBody>
          <a:bodyPr wrap="square" lIns="0" tIns="0" rIns="0" bIns="0" rtlCol="0" anchor="ctr"/>
          <a:lstStyle/>
          <a:p>
            <a:pPr algn="ctr" indent="0" marL="0">
              <a:buNone/>
            </a:pPr>
            <a:r>
              <a:rPr lang="en-US" sz="1100" b="1" dirty="0">
                <a:solidFill>
                  <a:schemeClr val="tx1"/>
                </a:solidFill>
              </a:rPr>
              <a:t>Low  0–19</a:t>
            </a:r>
            <a:endParaRPr lang="en-US" sz="1100" dirty="0"/>
          </a:p>
        </p:txBody>
      </p:sp>
      <p:sp>
        <p:nvSpPr>
          <p:cNvPr id="18" name="Band 2"/>
          <p:cNvSpPr/>
          <p:nvPr/>
        </p:nvSpPr>
        <p:spPr>
          <a:xfrm>
            <a:off x="1771650" y="5779008"/>
            <a:ext cx="1168146" cy="365760"/>
          </a:xfrm>
          <a:prstGeom prst="roundRect">
            <a:avLst>
              <a:gd name="adj" fmla="val 20000"/>
            </a:avLst>
          </a:prstGeom>
          <a:solidFill>
            <a:schemeClr val="accent4"/>
          </a:solidFill>
          <a:ln/>
        </p:spPr>
      </p:sp>
      <p:sp>
        <p:nvSpPr>
          <p:cNvPr id="19" name="Band 2 label"/>
          <p:cNvSpPr txBox="1"/>
          <p:nvPr/>
        </p:nvSpPr>
        <p:spPr>
          <a:xfrm>
            <a:off x="1771650" y="5779008"/>
            <a:ext cx="1168146" cy="365760"/>
          </a:xfrm>
          <a:prstGeom prst="rect">
            <a:avLst/>
          </a:prstGeom>
          <a:noFill/>
          <a:ln/>
        </p:spPr>
        <p:txBody>
          <a:bodyPr wrap="square" lIns="0" tIns="0" rIns="0" bIns="0" rtlCol="0" anchor="ctr"/>
          <a:lstStyle/>
          <a:p>
            <a:pPr algn="ctr" indent="0" marL="0">
              <a:buNone/>
            </a:pPr>
            <a:r>
              <a:rPr lang="en-US" sz="1100" b="1" dirty="0">
                <a:solidFill>
                  <a:schemeClr val="tx1"/>
                </a:solidFill>
              </a:rPr>
              <a:t>Medium  20–44</a:t>
            </a:r>
            <a:endParaRPr lang="en-US" sz="1100" dirty="0"/>
          </a:p>
        </p:txBody>
      </p:sp>
      <p:sp>
        <p:nvSpPr>
          <p:cNvPr id="20" name="Band 3"/>
          <p:cNvSpPr/>
          <p:nvPr/>
        </p:nvSpPr>
        <p:spPr>
          <a:xfrm>
            <a:off x="2994660" y="5779008"/>
            <a:ext cx="1168146" cy="365760"/>
          </a:xfrm>
          <a:prstGeom prst="roundRect">
            <a:avLst>
              <a:gd name="adj" fmla="val 20000"/>
            </a:avLst>
          </a:prstGeom>
          <a:solidFill>
            <a:schemeClr val="accent2"/>
          </a:solidFill>
          <a:ln/>
        </p:spPr>
      </p:sp>
      <p:sp>
        <p:nvSpPr>
          <p:cNvPr id="21" name="Band 3 label"/>
          <p:cNvSpPr txBox="1"/>
          <p:nvPr/>
        </p:nvSpPr>
        <p:spPr>
          <a:xfrm>
            <a:off x="2994660" y="5779008"/>
            <a:ext cx="1168146" cy="365760"/>
          </a:xfrm>
          <a:prstGeom prst="rect">
            <a:avLst/>
          </a:prstGeom>
          <a:noFill/>
          <a:ln/>
        </p:spPr>
        <p:txBody>
          <a:bodyPr wrap="square" lIns="0" tIns="0" rIns="0" bIns="0" rtlCol="0" anchor="ctr"/>
          <a:lstStyle/>
          <a:p>
            <a:pPr algn="ctr" indent="0" marL="0">
              <a:buNone/>
            </a:pPr>
            <a:r>
              <a:rPr lang="en-US" sz="1100" b="1" dirty="0">
                <a:solidFill>
                  <a:schemeClr val="tx1"/>
                </a:solidFill>
              </a:rPr>
              <a:t>High  45–69</a:t>
            </a:r>
            <a:endParaRPr lang="en-US" sz="1100" dirty="0"/>
          </a:p>
        </p:txBody>
      </p:sp>
      <p:sp>
        <p:nvSpPr>
          <p:cNvPr id="22" name="Band 4"/>
          <p:cNvSpPr/>
          <p:nvPr/>
        </p:nvSpPr>
        <p:spPr>
          <a:xfrm>
            <a:off x="4217670" y="5779008"/>
            <a:ext cx="1168146" cy="365760"/>
          </a:xfrm>
          <a:prstGeom prst="roundRect">
            <a:avLst>
              <a:gd name="adj" fmla="val 20000"/>
            </a:avLst>
          </a:prstGeom>
          <a:solidFill>
            <a:schemeClr val="accent5"/>
          </a:solidFill>
          <a:ln/>
        </p:spPr>
      </p:sp>
      <p:sp>
        <p:nvSpPr>
          <p:cNvPr id="23" name="Band 4 label"/>
          <p:cNvSpPr txBox="1"/>
          <p:nvPr/>
        </p:nvSpPr>
        <p:spPr>
          <a:xfrm>
            <a:off x="4217670" y="5779008"/>
            <a:ext cx="1168146" cy="365760"/>
          </a:xfrm>
          <a:prstGeom prst="rect">
            <a:avLst/>
          </a:prstGeom>
          <a:noFill/>
          <a:ln/>
        </p:spPr>
        <p:txBody>
          <a:bodyPr wrap="square" lIns="0" tIns="0" rIns="0" bIns="0" rtlCol="0" anchor="ctr"/>
          <a:lstStyle/>
          <a:p>
            <a:pPr algn="ctr" indent="0" marL="0">
              <a:buNone/>
            </a:pPr>
            <a:r>
              <a:rPr lang="en-US" sz="1100" b="1" dirty="0">
                <a:solidFill>
                  <a:schemeClr val="tx1"/>
                </a:solidFill>
              </a:rPr>
              <a:t>Critical  70+</a:t>
            </a:r>
            <a:endParaRPr lang="en-US" sz="1100" dirty="0"/>
          </a:p>
        </p:txBody>
      </p:sp>
      <p:pic>
        <p:nvPicPr>
          <p:cNvPr id="24" name="Case screenshot" descr="Aegis case page: SBI KYC scam SMS scored 64 out of 100, High, with three quoted indicators">    </p:cNvPr>
          <p:cNvPicPr>
            <a:picLocks noChangeAspect="1"/>
          </p:cNvPicPr>
          <p:nvPr/>
        </p:nvPicPr>
        <p:blipFill>
          <a:blip r:embed="rId1"/>
          <a:stretch>
            <a:fillRect/>
          </a:stretch>
        </p:blipFill>
        <p:spPr>
          <a:xfrm>
            <a:off x="6153912" y="2331720"/>
            <a:ext cx="5486400" cy="3429000"/>
          </a:xfrm>
          <a:prstGeom prst="rect">
            <a:avLst/>
          </a:prstGeom>
        </p:spPr>
      </p:pic>
      <p:sp>
        <p:nvSpPr>
          <p:cNvPr id="25" name="Screenshot caption"/>
          <p:cNvSpPr txBox="1"/>
          <p:nvPr/>
        </p:nvSpPr>
        <p:spPr>
          <a:xfrm>
            <a:off x="6153912" y="5852160"/>
            <a:ext cx="5486400" cy="274320"/>
          </a:xfrm>
          <a:prstGeom prst="rect">
            <a:avLst/>
          </a:prstGeom>
          <a:noFill/>
          <a:ln/>
        </p:spPr>
        <p:txBody>
          <a:bodyPr wrap="square" lIns="0" tIns="0" rIns="0" bIns="0" rtlCol="0" anchor="ctr"/>
          <a:lstStyle/>
          <a:p>
            <a:pPr algn="r" indent="0" marL="0">
              <a:buNone/>
            </a:pPr>
            <a:r>
              <a:rPr lang="en-US" sz="1100" dirty="0">
                <a:solidFill>
                  <a:schemeClr val="bg2"/>
                </a:solidFill>
              </a:rPr>
              <a:t>Real Aegis case: an SBI KYC scam SMS scores 64/100 (High), with every indicator quoted</a:t>
            </a:r>
            <a:endParaRPr lang="en-US" sz="11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3" type="body" hasCustomPrompt="1"/>
          </p:nvPr>
        </p:nvSpPr>
        <p:spPr>
          <a:xfrm>
            <a:off x="548640" y="109728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UNDER THE HOOD</a:t>
            </a:r>
            <a:endParaRPr lang="en-US" sz="1200" dirty="0"/>
          </a:p>
        </p:txBody>
      </p:sp>
      <p:sp>
        <p:nvSpPr>
          <p:cNvPr id="3" name="Text 1"/>
          <p:cNvSpPr/>
          <p:nvPr>
            <p:ph idx="104" type="title" hasCustomPrompt="1"/>
          </p:nvPr>
        </p:nvSpPr>
        <p:spPr>
          <a:xfrm>
            <a:off x="548640" y="1371600"/>
            <a:ext cx="11091672" cy="731520"/>
          </a:xfrm>
          <a:prstGeom prst="rect">
            <a:avLst/>
          </a:prstGeom>
          <a:noFill/>
          <a:ln/>
        </p:spPr>
        <p:txBody>
          <a:bodyPr wrap="square" lIns="0" tIns="0" rIns="0" bIns="0" rtlCol="0" anchor="t"/>
          <a:lstStyle/>
          <a:p>
            <a:pPr algn="l" indent="0" marL="0">
              <a:buNone/>
            </a:pPr>
            <a:r>
              <a:rPr lang="en-US" sz="3600" b="1" dirty="0">
                <a:solidFill>
                  <a:schemeClr val="bg1"/>
                </a:solidFill>
                <a:latin typeface="Arial" pitchFamily="34" charset="0"/>
                <a:ea typeface="Arial" pitchFamily="34" charset="-122"/>
                <a:cs typeface="Arial" pitchFamily="34" charset="-120"/>
              </a:rPr>
              <a:t>Built to be trusted with your data</a:t>
            </a:r>
            <a:endParaRPr lang="en-US" sz="3600" dirty="0"/>
          </a:p>
        </p:txBody>
      </p:sp>
      <p:sp>
        <p:nvSpPr>
          <p:cNvPr id="4" name="Frontend tile"/>
          <p:cNvSpPr/>
          <p:nvPr/>
        </p:nvSpPr>
        <p:spPr>
          <a:xfrm>
            <a:off x="548640" y="2331720"/>
            <a:ext cx="2766060" cy="1127760"/>
          </a:xfrm>
          <a:prstGeom prst="roundRect">
            <a:avLst>
              <a:gd name="adj" fmla="val 9730"/>
            </a:avLst>
          </a:prstGeom>
          <a:solidFill>
            <a:schemeClr val="tx2"/>
          </a:solidFill>
          <a:ln w="9525">
            <a:solidFill>
              <a:schemeClr val="accent1">
                <a:alpha val="18000"/>
              </a:schemeClr>
            </a:solidFill>
            <a:prstDash val="solid"/>
          </a:ln>
        </p:spPr>
      </p:sp>
      <p:sp>
        <p:nvSpPr>
          <p:cNvPr id="5" name="Frontend circle"/>
          <p:cNvSpPr/>
          <p:nvPr/>
        </p:nvSpPr>
        <p:spPr>
          <a:xfrm>
            <a:off x="749808" y="2532888"/>
            <a:ext cx="420624" cy="420624"/>
          </a:xfrm>
          <a:prstGeom prst="ellipse">
            <a:avLst/>
          </a:prstGeom>
          <a:solidFill>
            <a:schemeClr val="accent1">
              <a:alpha val="18000"/>
            </a:schemeClr>
          </a:solidFill>
          <a:ln/>
        </p:spPr>
      </p:sp>
      <p:pic>
        <p:nvPicPr>
          <p:cNvPr id="6" name="Frontend icon" descr="preencoded.png">    </p:cNvPr>
          <p:cNvPicPr>
            <a:picLocks noChangeAspect="1"/>
          </p:cNvPicPr>
          <p:nvPr/>
        </p:nvPicPr>
        <p:blipFill>
          <a:blip r:embed="rId1"/>
          <a:stretch>
            <a:fillRect/>
          </a:stretch>
        </p:blipFill>
        <p:spPr>
          <a:xfrm>
            <a:off x="850758" y="2633838"/>
            <a:ext cx="218724" cy="218724"/>
          </a:xfrm>
          <a:prstGeom prst="rect">
            <a:avLst/>
          </a:prstGeom>
        </p:spPr>
      </p:pic>
      <p:sp>
        <p:nvSpPr>
          <p:cNvPr id="7" name="Frontend label"/>
          <p:cNvSpPr txBox="1"/>
          <p:nvPr/>
        </p:nvSpPr>
        <p:spPr>
          <a:xfrm>
            <a:off x="1298448" y="2532888"/>
            <a:ext cx="1851660" cy="420624"/>
          </a:xfrm>
          <a:prstGeom prst="rect">
            <a:avLst/>
          </a:prstGeom>
          <a:noFill/>
          <a:ln/>
        </p:spPr>
        <p:txBody>
          <a:bodyPr wrap="square" lIns="0" tIns="0" rIns="0" bIns="0" rtlCol="0" anchor="ctr"/>
          <a:lstStyle/>
          <a:p>
            <a:pPr indent="0" marL="0">
              <a:buNone/>
            </a:pPr>
            <a:r>
              <a:rPr lang="en-US" sz="1600" b="1" dirty="0">
                <a:solidFill>
                  <a:schemeClr val="bg1"/>
                </a:solidFill>
              </a:rPr>
              <a:t>Frontend</a:t>
            </a:r>
            <a:endParaRPr lang="en-US" sz="1600" dirty="0"/>
          </a:p>
        </p:txBody>
      </p:sp>
      <p:sp>
        <p:nvSpPr>
          <p:cNvPr id="8" name="Frontend text"/>
          <p:cNvSpPr txBox="1"/>
          <p:nvPr/>
        </p:nvSpPr>
        <p:spPr>
          <a:xfrm>
            <a:off x="749808" y="3026664"/>
            <a:ext cx="2400300" cy="365760"/>
          </a:xfrm>
          <a:prstGeom prst="rect">
            <a:avLst/>
          </a:prstGeom>
          <a:noFill/>
          <a:ln/>
        </p:spPr>
        <p:txBody>
          <a:bodyPr wrap="square" lIns="0" tIns="0" rIns="0" bIns="0" rtlCol="0" anchor="t"/>
          <a:lstStyle/>
          <a:p>
            <a:pPr indent="0" marL="0">
              <a:buNone/>
            </a:pPr>
            <a:r>
              <a:rPr lang="en-US" sz="1400" dirty="0">
                <a:solidFill>
                  <a:schemeClr val="bg2"/>
                </a:solidFill>
              </a:rPr>
              <a:t>Vanilla JS, strict CSP</a:t>
            </a:r>
            <a:endParaRPr lang="en-US" sz="1400" dirty="0"/>
          </a:p>
        </p:txBody>
      </p:sp>
      <p:sp>
        <p:nvSpPr>
          <p:cNvPr id="9" name="Backend tile"/>
          <p:cNvSpPr/>
          <p:nvPr/>
        </p:nvSpPr>
        <p:spPr>
          <a:xfrm>
            <a:off x="3543300" y="2331720"/>
            <a:ext cx="2766060" cy="1127760"/>
          </a:xfrm>
          <a:prstGeom prst="roundRect">
            <a:avLst>
              <a:gd name="adj" fmla="val 9730"/>
            </a:avLst>
          </a:prstGeom>
          <a:solidFill>
            <a:schemeClr val="tx2"/>
          </a:solidFill>
          <a:ln w="9525">
            <a:solidFill>
              <a:schemeClr val="accent1">
                <a:alpha val="18000"/>
              </a:schemeClr>
            </a:solidFill>
            <a:prstDash val="solid"/>
          </a:ln>
        </p:spPr>
      </p:sp>
      <p:sp>
        <p:nvSpPr>
          <p:cNvPr id="10" name="Backend circle"/>
          <p:cNvSpPr/>
          <p:nvPr/>
        </p:nvSpPr>
        <p:spPr>
          <a:xfrm>
            <a:off x="3744468" y="2532888"/>
            <a:ext cx="420624" cy="420624"/>
          </a:xfrm>
          <a:prstGeom prst="ellipse">
            <a:avLst/>
          </a:prstGeom>
          <a:solidFill>
            <a:schemeClr val="accent1">
              <a:alpha val="18000"/>
            </a:schemeClr>
          </a:solidFill>
          <a:ln/>
        </p:spPr>
      </p:sp>
      <p:pic>
        <p:nvPicPr>
          <p:cNvPr id="11" name="Backend icon" descr="preencoded.png">    </p:cNvPr>
          <p:cNvPicPr>
            <a:picLocks noChangeAspect="1"/>
          </p:cNvPicPr>
          <p:nvPr/>
        </p:nvPicPr>
        <p:blipFill>
          <a:blip r:embed="rId2"/>
          <a:stretch>
            <a:fillRect/>
          </a:stretch>
        </p:blipFill>
        <p:spPr>
          <a:xfrm>
            <a:off x="3845418" y="2633838"/>
            <a:ext cx="218724" cy="218724"/>
          </a:xfrm>
          <a:prstGeom prst="rect">
            <a:avLst/>
          </a:prstGeom>
        </p:spPr>
      </p:pic>
      <p:sp>
        <p:nvSpPr>
          <p:cNvPr id="12" name="Backend label"/>
          <p:cNvSpPr txBox="1"/>
          <p:nvPr/>
        </p:nvSpPr>
        <p:spPr>
          <a:xfrm>
            <a:off x="4293108" y="2532888"/>
            <a:ext cx="1851660" cy="420624"/>
          </a:xfrm>
          <a:prstGeom prst="rect">
            <a:avLst/>
          </a:prstGeom>
          <a:noFill/>
          <a:ln/>
        </p:spPr>
        <p:txBody>
          <a:bodyPr wrap="square" lIns="0" tIns="0" rIns="0" bIns="0" rtlCol="0" anchor="ctr"/>
          <a:lstStyle/>
          <a:p>
            <a:pPr indent="0" marL="0">
              <a:buNone/>
            </a:pPr>
            <a:r>
              <a:rPr lang="en-US" sz="1600" b="1" dirty="0">
                <a:solidFill>
                  <a:schemeClr val="bg1"/>
                </a:solidFill>
              </a:rPr>
              <a:t>Backend</a:t>
            </a:r>
            <a:endParaRPr lang="en-US" sz="1600" dirty="0"/>
          </a:p>
        </p:txBody>
      </p:sp>
      <p:sp>
        <p:nvSpPr>
          <p:cNvPr id="13" name="Backend text"/>
          <p:cNvSpPr txBox="1"/>
          <p:nvPr/>
        </p:nvSpPr>
        <p:spPr>
          <a:xfrm>
            <a:off x="3744468" y="3026664"/>
            <a:ext cx="2400300" cy="365760"/>
          </a:xfrm>
          <a:prstGeom prst="rect">
            <a:avLst/>
          </a:prstGeom>
          <a:noFill/>
          <a:ln/>
        </p:spPr>
        <p:txBody>
          <a:bodyPr wrap="square" lIns="0" tIns="0" rIns="0" bIns="0" rtlCol="0" anchor="t"/>
          <a:lstStyle/>
          <a:p>
            <a:pPr indent="0" marL="0">
              <a:buNone/>
            </a:pPr>
            <a:r>
              <a:rPr lang="en-US" sz="1400" dirty="0">
                <a:solidFill>
                  <a:schemeClr val="bg2"/>
                </a:solidFill>
              </a:rPr>
              <a:t>FastAPI on Vercel</a:t>
            </a:r>
            <a:endParaRPr lang="en-US" sz="1400" dirty="0"/>
          </a:p>
        </p:txBody>
      </p:sp>
      <p:sp>
        <p:nvSpPr>
          <p:cNvPr id="14" name="Database tile"/>
          <p:cNvSpPr/>
          <p:nvPr/>
        </p:nvSpPr>
        <p:spPr>
          <a:xfrm>
            <a:off x="548640" y="3688080"/>
            <a:ext cx="2766060" cy="1127760"/>
          </a:xfrm>
          <a:prstGeom prst="roundRect">
            <a:avLst>
              <a:gd name="adj" fmla="val 9730"/>
            </a:avLst>
          </a:prstGeom>
          <a:solidFill>
            <a:schemeClr val="tx2"/>
          </a:solidFill>
          <a:ln w="9525">
            <a:solidFill>
              <a:schemeClr val="accent1">
                <a:alpha val="18000"/>
              </a:schemeClr>
            </a:solidFill>
            <a:prstDash val="solid"/>
          </a:ln>
        </p:spPr>
      </p:sp>
      <p:sp>
        <p:nvSpPr>
          <p:cNvPr id="15" name="Database circle"/>
          <p:cNvSpPr/>
          <p:nvPr/>
        </p:nvSpPr>
        <p:spPr>
          <a:xfrm>
            <a:off x="749808" y="3889248"/>
            <a:ext cx="420624" cy="420624"/>
          </a:xfrm>
          <a:prstGeom prst="ellipse">
            <a:avLst/>
          </a:prstGeom>
          <a:solidFill>
            <a:schemeClr val="accent1">
              <a:alpha val="18000"/>
            </a:schemeClr>
          </a:solidFill>
          <a:ln/>
        </p:spPr>
      </p:sp>
      <p:pic>
        <p:nvPicPr>
          <p:cNvPr id="16" name="Database icon" descr="preencoded.png">    </p:cNvPr>
          <p:cNvPicPr>
            <a:picLocks noChangeAspect="1"/>
          </p:cNvPicPr>
          <p:nvPr/>
        </p:nvPicPr>
        <p:blipFill>
          <a:blip r:embed="rId3"/>
          <a:stretch>
            <a:fillRect/>
          </a:stretch>
        </p:blipFill>
        <p:spPr>
          <a:xfrm>
            <a:off x="850758" y="3990198"/>
            <a:ext cx="218724" cy="218724"/>
          </a:xfrm>
          <a:prstGeom prst="rect">
            <a:avLst/>
          </a:prstGeom>
        </p:spPr>
      </p:pic>
      <p:sp>
        <p:nvSpPr>
          <p:cNvPr id="17" name="Database label"/>
          <p:cNvSpPr txBox="1"/>
          <p:nvPr/>
        </p:nvSpPr>
        <p:spPr>
          <a:xfrm>
            <a:off x="1298448" y="3889248"/>
            <a:ext cx="1851660" cy="420624"/>
          </a:xfrm>
          <a:prstGeom prst="rect">
            <a:avLst/>
          </a:prstGeom>
          <a:noFill/>
          <a:ln/>
        </p:spPr>
        <p:txBody>
          <a:bodyPr wrap="square" lIns="0" tIns="0" rIns="0" bIns="0" rtlCol="0" anchor="ctr"/>
          <a:lstStyle/>
          <a:p>
            <a:pPr indent="0" marL="0">
              <a:buNone/>
            </a:pPr>
            <a:r>
              <a:rPr lang="en-US" sz="1600" b="1" dirty="0">
                <a:solidFill>
                  <a:schemeClr val="bg1"/>
                </a:solidFill>
              </a:rPr>
              <a:t>Database</a:t>
            </a:r>
            <a:endParaRPr lang="en-US" sz="1600" dirty="0"/>
          </a:p>
        </p:txBody>
      </p:sp>
      <p:sp>
        <p:nvSpPr>
          <p:cNvPr id="18" name="Database text"/>
          <p:cNvSpPr txBox="1"/>
          <p:nvPr/>
        </p:nvSpPr>
        <p:spPr>
          <a:xfrm>
            <a:off x="749808" y="4383024"/>
            <a:ext cx="2400300" cy="365760"/>
          </a:xfrm>
          <a:prstGeom prst="rect">
            <a:avLst/>
          </a:prstGeom>
          <a:noFill/>
          <a:ln/>
        </p:spPr>
        <p:txBody>
          <a:bodyPr wrap="square" lIns="0" tIns="0" rIns="0" bIns="0" rtlCol="0" anchor="t"/>
          <a:lstStyle/>
          <a:p>
            <a:pPr indent="0" marL="0">
              <a:buNone/>
            </a:pPr>
            <a:r>
              <a:rPr lang="en-US" sz="1400" dirty="0">
                <a:solidFill>
                  <a:schemeClr val="bg2"/>
                </a:solidFill>
              </a:rPr>
              <a:t>Supabase Postgres, Mumbai</a:t>
            </a:r>
            <a:endParaRPr lang="en-US" sz="1400" dirty="0"/>
          </a:p>
        </p:txBody>
      </p:sp>
      <p:sp>
        <p:nvSpPr>
          <p:cNvPr id="19" name="AI review tile"/>
          <p:cNvSpPr/>
          <p:nvPr/>
        </p:nvSpPr>
        <p:spPr>
          <a:xfrm>
            <a:off x="3543300" y="3688080"/>
            <a:ext cx="2766060" cy="1127760"/>
          </a:xfrm>
          <a:prstGeom prst="roundRect">
            <a:avLst>
              <a:gd name="adj" fmla="val 9730"/>
            </a:avLst>
          </a:prstGeom>
          <a:solidFill>
            <a:schemeClr val="tx2"/>
          </a:solidFill>
          <a:ln w="9525">
            <a:solidFill>
              <a:schemeClr val="accent1">
                <a:alpha val="18000"/>
              </a:schemeClr>
            </a:solidFill>
            <a:prstDash val="solid"/>
          </a:ln>
        </p:spPr>
      </p:sp>
      <p:sp>
        <p:nvSpPr>
          <p:cNvPr id="20" name="AI review circle"/>
          <p:cNvSpPr/>
          <p:nvPr/>
        </p:nvSpPr>
        <p:spPr>
          <a:xfrm>
            <a:off x="3744468" y="3889248"/>
            <a:ext cx="420624" cy="420624"/>
          </a:xfrm>
          <a:prstGeom prst="ellipse">
            <a:avLst/>
          </a:prstGeom>
          <a:solidFill>
            <a:schemeClr val="accent1">
              <a:alpha val="18000"/>
            </a:schemeClr>
          </a:solidFill>
          <a:ln/>
        </p:spPr>
      </p:sp>
      <p:pic>
        <p:nvPicPr>
          <p:cNvPr id="21" name="AI review icon" descr="preencoded.png">    </p:cNvPr>
          <p:cNvPicPr>
            <a:picLocks noChangeAspect="1"/>
          </p:cNvPicPr>
          <p:nvPr/>
        </p:nvPicPr>
        <p:blipFill>
          <a:blip r:embed="rId4"/>
          <a:stretch>
            <a:fillRect/>
          </a:stretch>
        </p:blipFill>
        <p:spPr>
          <a:xfrm>
            <a:off x="3845418" y="3990198"/>
            <a:ext cx="218724" cy="218724"/>
          </a:xfrm>
          <a:prstGeom prst="rect">
            <a:avLst/>
          </a:prstGeom>
        </p:spPr>
      </p:pic>
      <p:sp>
        <p:nvSpPr>
          <p:cNvPr id="22" name="AI review label"/>
          <p:cNvSpPr txBox="1"/>
          <p:nvPr/>
        </p:nvSpPr>
        <p:spPr>
          <a:xfrm>
            <a:off x="4293108" y="3889248"/>
            <a:ext cx="1851660" cy="420624"/>
          </a:xfrm>
          <a:prstGeom prst="rect">
            <a:avLst/>
          </a:prstGeom>
          <a:noFill/>
          <a:ln/>
        </p:spPr>
        <p:txBody>
          <a:bodyPr wrap="square" lIns="0" tIns="0" rIns="0" bIns="0" rtlCol="0" anchor="ctr"/>
          <a:lstStyle/>
          <a:p>
            <a:pPr indent="0" marL="0">
              <a:buNone/>
            </a:pPr>
            <a:r>
              <a:rPr lang="en-US" sz="1600" b="1" dirty="0">
                <a:solidFill>
                  <a:schemeClr val="bg1"/>
                </a:solidFill>
              </a:rPr>
              <a:t>AI review</a:t>
            </a:r>
            <a:endParaRPr lang="en-US" sz="1600" dirty="0"/>
          </a:p>
        </p:txBody>
      </p:sp>
      <p:sp>
        <p:nvSpPr>
          <p:cNvPr id="23" name="AI review text"/>
          <p:cNvSpPr txBox="1"/>
          <p:nvPr/>
        </p:nvSpPr>
        <p:spPr>
          <a:xfrm>
            <a:off x="3744468" y="4383024"/>
            <a:ext cx="2400300" cy="365760"/>
          </a:xfrm>
          <a:prstGeom prst="rect">
            <a:avLst/>
          </a:prstGeom>
          <a:noFill/>
          <a:ln/>
        </p:spPr>
        <p:txBody>
          <a:bodyPr wrap="square" lIns="0" tIns="0" rIns="0" bIns="0" rtlCol="0" anchor="t"/>
          <a:lstStyle/>
          <a:p>
            <a:pPr indent="0" marL="0">
              <a:buNone/>
            </a:pPr>
            <a:r>
              <a:rPr lang="en-US" sz="1400" dirty="0">
                <a:solidFill>
                  <a:schemeClr val="bg2"/>
                </a:solidFill>
              </a:rPr>
              <a:t>Claude explains findings</a:t>
            </a:r>
            <a:endParaRPr lang="en-US" sz="1400" dirty="0"/>
          </a:p>
        </p:txBody>
      </p:sp>
      <p:sp>
        <p:nvSpPr>
          <p:cNvPr id="24" name="Android app tile"/>
          <p:cNvSpPr/>
          <p:nvPr/>
        </p:nvSpPr>
        <p:spPr>
          <a:xfrm>
            <a:off x="548640" y="5044440"/>
            <a:ext cx="2766060" cy="1127760"/>
          </a:xfrm>
          <a:prstGeom prst="roundRect">
            <a:avLst>
              <a:gd name="adj" fmla="val 9730"/>
            </a:avLst>
          </a:prstGeom>
          <a:solidFill>
            <a:schemeClr val="tx2"/>
          </a:solidFill>
          <a:ln w="9525">
            <a:solidFill>
              <a:schemeClr val="accent1">
                <a:alpha val="18000"/>
              </a:schemeClr>
            </a:solidFill>
            <a:prstDash val="solid"/>
          </a:ln>
        </p:spPr>
      </p:sp>
      <p:sp>
        <p:nvSpPr>
          <p:cNvPr id="25" name="Android app circle"/>
          <p:cNvSpPr/>
          <p:nvPr/>
        </p:nvSpPr>
        <p:spPr>
          <a:xfrm>
            <a:off x="749808" y="5245608"/>
            <a:ext cx="420624" cy="420624"/>
          </a:xfrm>
          <a:prstGeom prst="ellipse">
            <a:avLst/>
          </a:prstGeom>
          <a:solidFill>
            <a:schemeClr val="accent1">
              <a:alpha val="18000"/>
            </a:schemeClr>
          </a:solidFill>
          <a:ln/>
        </p:spPr>
      </p:sp>
      <p:pic>
        <p:nvPicPr>
          <p:cNvPr id="26" name="Android app icon" descr="preencoded.png">    </p:cNvPr>
          <p:cNvPicPr>
            <a:picLocks noChangeAspect="1"/>
          </p:cNvPicPr>
          <p:nvPr/>
        </p:nvPicPr>
        <p:blipFill>
          <a:blip r:embed="rId5"/>
          <a:stretch>
            <a:fillRect/>
          </a:stretch>
        </p:blipFill>
        <p:spPr>
          <a:xfrm>
            <a:off x="850758" y="5346558"/>
            <a:ext cx="218724" cy="218724"/>
          </a:xfrm>
          <a:prstGeom prst="rect">
            <a:avLst/>
          </a:prstGeom>
        </p:spPr>
      </p:pic>
      <p:sp>
        <p:nvSpPr>
          <p:cNvPr id="27" name="Android app label"/>
          <p:cNvSpPr txBox="1"/>
          <p:nvPr/>
        </p:nvSpPr>
        <p:spPr>
          <a:xfrm>
            <a:off x="1298448" y="5245608"/>
            <a:ext cx="1851660" cy="420624"/>
          </a:xfrm>
          <a:prstGeom prst="rect">
            <a:avLst/>
          </a:prstGeom>
          <a:noFill/>
          <a:ln/>
        </p:spPr>
        <p:txBody>
          <a:bodyPr wrap="square" lIns="0" tIns="0" rIns="0" bIns="0" rtlCol="0" anchor="ctr"/>
          <a:lstStyle/>
          <a:p>
            <a:pPr indent="0" marL="0">
              <a:buNone/>
            </a:pPr>
            <a:r>
              <a:rPr lang="en-US" sz="1600" b="1" dirty="0">
                <a:solidFill>
                  <a:schemeClr val="bg1"/>
                </a:solidFill>
              </a:rPr>
              <a:t>Android app</a:t>
            </a:r>
            <a:endParaRPr lang="en-US" sz="1600" dirty="0"/>
          </a:p>
        </p:txBody>
      </p:sp>
      <p:sp>
        <p:nvSpPr>
          <p:cNvPr id="28" name="Android app text"/>
          <p:cNvSpPr txBox="1"/>
          <p:nvPr/>
        </p:nvSpPr>
        <p:spPr>
          <a:xfrm>
            <a:off x="749808" y="5739384"/>
            <a:ext cx="2400300" cy="365760"/>
          </a:xfrm>
          <a:prstGeom prst="rect">
            <a:avLst/>
          </a:prstGeom>
          <a:noFill/>
          <a:ln/>
        </p:spPr>
        <p:txBody>
          <a:bodyPr wrap="square" lIns="0" tIns="0" rIns="0" bIns="0" rtlCol="0" anchor="t"/>
          <a:lstStyle/>
          <a:p>
            <a:pPr indent="0" marL="0">
              <a:buNone/>
            </a:pPr>
            <a:r>
              <a:rPr lang="en-US" sz="1400" dirty="0">
                <a:solidFill>
                  <a:schemeClr val="bg2"/>
                </a:solidFill>
              </a:rPr>
              <a:t>Rates apps, screens calls</a:t>
            </a:r>
            <a:endParaRPr lang="en-US" sz="1400" dirty="0"/>
          </a:p>
        </p:txBody>
      </p:sp>
      <p:sp>
        <p:nvSpPr>
          <p:cNvPr id="29" name="Tested tile"/>
          <p:cNvSpPr/>
          <p:nvPr/>
        </p:nvSpPr>
        <p:spPr>
          <a:xfrm>
            <a:off x="3543300" y="5044440"/>
            <a:ext cx="2766060" cy="1127760"/>
          </a:xfrm>
          <a:prstGeom prst="roundRect">
            <a:avLst>
              <a:gd name="adj" fmla="val 9730"/>
            </a:avLst>
          </a:prstGeom>
          <a:solidFill>
            <a:schemeClr val="tx2"/>
          </a:solidFill>
          <a:ln w="9525">
            <a:solidFill>
              <a:schemeClr val="accent1">
                <a:alpha val="18000"/>
              </a:schemeClr>
            </a:solidFill>
            <a:prstDash val="solid"/>
          </a:ln>
        </p:spPr>
      </p:sp>
      <p:sp>
        <p:nvSpPr>
          <p:cNvPr id="30" name="Tested circle"/>
          <p:cNvSpPr/>
          <p:nvPr/>
        </p:nvSpPr>
        <p:spPr>
          <a:xfrm>
            <a:off x="3744468" y="5245608"/>
            <a:ext cx="420624" cy="420624"/>
          </a:xfrm>
          <a:prstGeom prst="ellipse">
            <a:avLst/>
          </a:prstGeom>
          <a:solidFill>
            <a:schemeClr val="accent1">
              <a:alpha val="18000"/>
            </a:schemeClr>
          </a:solidFill>
          <a:ln/>
        </p:spPr>
      </p:sp>
      <p:pic>
        <p:nvPicPr>
          <p:cNvPr id="31" name="Tested icon" descr="preencoded.png">    </p:cNvPr>
          <p:cNvPicPr>
            <a:picLocks noChangeAspect="1"/>
          </p:cNvPicPr>
          <p:nvPr/>
        </p:nvPicPr>
        <p:blipFill>
          <a:blip r:embed="rId6"/>
          <a:stretch>
            <a:fillRect/>
          </a:stretch>
        </p:blipFill>
        <p:spPr>
          <a:xfrm>
            <a:off x="3845418" y="5346558"/>
            <a:ext cx="218724" cy="218724"/>
          </a:xfrm>
          <a:prstGeom prst="rect">
            <a:avLst/>
          </a:prstGeom>
        </p:spPr>
      </p:pic>
      <p:sp>
        <p:nvSpPr>
          <p:cNvPr id="32" name="Tested label"/>
          <p:cNvSpPr txBox="1"/>
          <p:nvPr/>
        </p:nvSpPr>
        <p:spPr>
          <a:xfrm>
            <a:off x="4293108" y="5245608"/>
            <a:ext cx="1851660" cy="420624"/>
          </a:xfrm>
          <a:prstGeom prst="rect">
            <a:avLst/>
          </a:prstGeom>
          <a:noFill/>
          <a:ln/>
        </p:spPr>
        <p:txBody>
          <a:bodyPr wrap="square" lIns="0" tIns="0" rIns="0" bIns="0" rtlCol="0" anchor="ctr"/>
          <a:lstStyle/>
          <a:p>
            <a:pPr indent="0" marL="0">
              <a:buNone/>
            </a:pPr>
            <a:r>
              <a:rPr lang="en-US" sz="1600" b="1" dirty="0">
                <a:solidFill>
                  <a:schemeClr val="bg1"/>
                </a:solidFill>
              </a:rPr>
              <a:t>Tested</a:t>
            </a:r>
            <a:endParaRPr lang="en-US" sz="1600" dirty="0"/>
          </a:p>
        </p:txBody>
      </p:sp>
      <p:sp>
        <p:nvSpPr>
          <p:cNvPr id="33" name="Tested text"/>
          <p:cNvSpPr txBox="1"/>
          <p:nvPr/>
        </p:nvSpPr>
        <p:spPr>
          <a:xfrm>
            <a:off x="3744468" y="5739384"/>
            <a:ext cx="2400300" cy="365760"/>
          </a:xfrm>
          <a:prstGeom prst="rect">
            <a:avLst/>
          </a:prstGeom>
          <a:noFill/>
          <a:ln/>
        </p:spPr>
        <p:txBody>
          <a:bodyPr wrap="square" lIns="0" tIns="0" rIns="0" bIns="0" rtlCol="0" anchor="t"/>
          <a:lstStyle/>
          <a:p>
            <a:pPr indent="0" marL="0">
              <a:buNone/>
            </a:pPr>
            <a:r>
              <a:rPr lang="en-US" sz="1400" dirty="0">
                <a:solidFill>
                  <a:schemeClr val="bg2"/>
                </a:solidFill>
              </a:rPr>
              <a:t>45 backend tests passing</a:t>
            </a:r>
            <a:endParaRPr lang="en-US" sz="1400" dirty="0"/>
          </a:p>
        </p:txBody>
      </p:sp>
      <p:sp>
        <p:nvSpPr>
          <p:cNvPr id="34" name="Privacy card"/>
          <p:cNvSpPr/>
          <p:nvPr/>
        </p:nvSpPr>
        <p:spPr>
          <a:xfrm>
            <a:off x="6583680" y="2331720"/>
            <a:ext cx="5056632" cy="3840480"/>
          </a:xfrm>
          <a:prstGeom prst="roundRect">
            <a:avLst>
              <a:gd name="adj" fmla="val 2857"/>
            </a:avLst>
          </a:prstGeom>
          <a:solidFill>
            <a:schemeClr val="tx2"/>
          </a:solidFill>
          <a:ln w="9525">
            <a:solidFill>
              <a:schemeClr val="accent1">
                <a:alpha val="18000"/>
              </a:schemeClr>
            </a:solidFill>
            <a:prstDash val="solid"/>
          </a:ln>
        </p:spPr>
      </p:sp>
      <p:sp>
        <p:nvSpPr>
          <p:cNvPr id="35" name="Privacy circle"/>
          <p:cNvSpPr/>
          <p:nvPr/>
        </p:nvSpPr>
        <p:spPr>
          <a:xfrm>
            <a:off x="6858000" y="2606040"/>
            <a:ext cx="512064" cy="512064"/>
          </a:xfrm>
          <a:prstGeom prst="ellipse">
            <a:avLst/>
          </a:prstGeom>
          <a:solidFill>
            <a:schemeClr val="accent1">
              <a:alpha val="18000"/>
            </a:schemeClr>
          </a:solidFill>
          <a:ln/>
        </p:spPr>
      </p:sp>
      <p:pic>
        <p:nvPicPr>
          <p:cNvPr id="36" name="Privacy icon" descr="preencoded.png">    </p:cNvPr>
          <p:cNvPicPr>
            <a:picLocks noChangeAspect="1"/>
          </p:cNvPicPr>
          <p:nvPr/>
        </p:nvPicPr>
        <p:blipFill>
          <a:blip r:embed="rId7"/>
          <a:stretch>
            <a:fillRect/>
          </a:stretch>
        </p:blipFill>
        <p:spPr>
          <a:xfrm>
            <a:off x="6980895" y="2728935"/>
            <a:ext cx="266273" cy="266273"/>
          </a:xfrm>
          <a:prstGeom prst="rect">
            <a:avLst/>
          </a:prstGeom>
        </p:spPr>
      </p:pic>
      <p:sp>
        <p:nvSpPr>
          <p:cNvPr id="37" name="Privacy title"/>
          <p:cNvSpPr txBox="1"/>
          <p:nvPr/>
        </p:nvSpPr>
        <p:spPr>
          <a:xfrm>
            <a:off x="7543800" y="2606040"/>
            <a:ext cx="3840480" cy="512064"/>
          </a:xfrm>
          <a:prstGeom prst="rect">
            <a:avLst/>
          </a:prstGeom>
          <a:noFill/>
          <a:ln/>
        </p:spPr>
        <p:txBody>
          <a:bodyPr wrap="square" lIns="0" tIns="0" rIns="0" bIns="0" rtlCol="0" anchor="ctr"/>
          <a:lstStyle/>
          <a:p>
            <a:pPr indent="0" marL="0">
              <a:buNone/>
            </a:pPr>
            <a:r>
              <a:rPr lang="en-US" sz="2000" b="1" dirty="0">
                <a:solidFill>
                  <a:schemeClr val="bg1"/>
                </a:solidFill>
              </a:rPr>
              <a:t>Privacy by design</a:t>
            </a:r>
            <a:endParaRPr lang="en-US" sz="2000" dirty="0"/>
          </a:p>
        </p:txBody>
      </p:sp>
      <p:pic>
        <p:nvPicPr>
          <p:cNvPr id="38" name="Check 1" descr="preencoded.png">    </p:cNvPr>
          <p:cNvPicPr>
            <a:picLocks noChangeAspect="1"/>
          </p:cNvPicPr>
          <p:nvPr/>
        </p:nvPicPr>
        <p:blipFill>
          <a:blip r:embed="rId8"/>
          <a:stretch>
            <a:fillRect/>
          </a:stretch>
        </p:blipFill>
        <p:spPr>
          <a:xfrm>
            <a:off x="6903720" y="3438144"/>
            <a:ext cx="237744" cy="237744"/>
          </a:xfrm>
          <a:prstGeom prst="rect">
            <a:avLst/>
          </a:prstGeom>
        </p:spPr>
      </p:pic>
      <p:sp>
        <p:nvSpPr>
          <p:cNvPr id="39" name="Privacy point 1"/>
          <p:cNvSpPr txBox="1"/>
          <p:nvPr/>
        </p:nvSpPr>
        <p:spPr>
          <a:xfrm>
            <a:off x="7296912" y="3383280"/>
            <a:ext cx="4160520" cy="365760"/>
          </a:xfrm>
          <a:prstGeom prst="rect">
            <a:avLst/>
          </a:prstGeom>
          <a:noFill/>
          <a:ln/>
        </p:spPr>
        <p:txBody>
          <a:bodyPr wrap="square" lIns="0" tIns="0" rIns="0" bIns="0" rtlCol="0" anchor="ctr"/>
          <a:lstStyle/>
          <a:p>
            <a:pPr indent="0" marL="0">
              <a:buNone/>
            </a:pPr>
            <a:r>
              <a:rPr lang="en-US" sz="1400" dirty="0">
                <a:solidFill>
                  <a:schemeClr val="bg1"/>
                </a:solidFill>
              </a:rPr>
              <a:t>Call screening stores no audio; numbers are masked</a:t>
            </a:r>
            <a:endParaRPr lang="en-US" sz="1400" dirty="0"/>
          </a:p>
        </p:txBody>
      </p:sp>
      <p:pic>
        <p:nvPicPr>
          <p:cNvPr id="40" name="Check 2" descr="preencoded.png">    </p:cNvPr>
          <p:cNvPicPr>
            <a:picLocks noChangeAspect="1"/>
          </p:cNvPicPr>
          <p:nvPr/>
        </p:nvPicPr>
        <p:blipFill>
          <a:blip r:embed="rId9"/>
          <a:stretch>
            <a:fillRect/>
          </a:stretch>
        </p:blipFill>
        <p:spPr>
          <a:xfrm>
            <a:off x="6903720" y="3968496"/>
            <a:ext cx="237744" cy="237744"/>
          </a:xfrm>
          <a:prstGeom prst="rect">
            <a:avLst/>
          </a:prstGeom>
        </p:spPr>
      </p:pic>
      <p:sp>
        <p:nvSpPr>
          <p:cNvPr id="41" name="Privacy point 2"/>
          <p:cNvSpPr txBox="1"/>
          <p:nvPr/>
        </p:nvSpPr>
        <p:spPr>
          <a:xfrm>
            <a:off x="7296912" y="3913632"/>
            <a:ext cx="4160520" cy="365760"/>
          </a:xfrm>
          <a:prstGeom prst="rect">
            <a:avLst/>
          </a:prstGeom>
          <a:noFill/>
          <a:ln/>
        </p:spPr>
        <p:txBody>
          <a:bodyPr wrap="square" lIns="0" tIns="0" rIns="0" bIns="0" rtlCol="0" anchor="ctr"/>
          <a:lstStyle/>
          <a:p>
            <a:pPr indent="0" marL="0">
              <a:buNone/>
            </a:pPr>
            <a:r>
              <a:rPr lang="en-US" sz="1400" dirty="0">
                <a:solidFill>
                  <a:schemeClr val="bg1"/>
                </a:solidFill>
              </a:rPr>
              <a:t>Uploaded APKs and source code are never kept</a:t>
            </a:r>
            <a:endParaRPr lang="en-US" sz="1400" dirty="0"/>
          </a:p>
        </p:txBody>
      </p:sp>
      <p:pic>
        <p:nvPicPr>
          <p:cNvPr id="42" name="Check 3" descr="preencoded.png">    </p:cNvPr>
          <p:cNvPicPr>
            <a:picLocks noChangeAspect="1"/>
          </p:cNvPicPr>
          <p:nvPr/>
        </p:nvPicPr>
        <p:blipFill>
          <a:blip r:embed="rId10"/>
          <a:stretch>
            <a:fillRect/>
          </a:stretch>
        </p:blipFill>
        <p:spPr>
          <a:xfrm>
            <a:off x="6903720" y="4498848"/>
            <a:ext cx="237744" cy="237744"/>
          </a:xfrm>
          <a:prstGeom prst="rect">
            <a:avLst/>
          </a:prstGeom>
        </p:spPr>
      </p:pic>
      <p:sp>
        <p:nvSpPr>
          <p:cNvPr id="43" name="Privacy point 3"/>
          <p:cNvSpPr txBox="1"/>
          <p:nvPr/>
        </p:nvSpPr>
        <p:spPr>
          <a:xfrm>
            <a:off x="7296912" y="4443984"/>
            <a:ext cx="4160520" cy="365760"/>
          </a:xfrm>
          <a:prstGeom prst="rect">
            <a:avLst/>
          </a:prstGeom>
          <a:noFill/>
          <a:ln/>
        </p:spPr>
        <p:txBody>
          <a:bodyPr wrap="square" lIns="0" tIns="0" rIns="0" bIns="0" rtlCol="0" anchor="ctr"/>
          <a:lstStyle/>
          <a:p>
            <a:pPr indent="0" marL="0">
              <a:buNone/>
            </a:pPr>
            <a:r>
              <a:rPr lang="en-US" sz="1400" dirty="0">
                <a:solidFill>
                  <a:schemeClr val="bg1"/>
                </a:solidFill>
              </a:rPr>
              <a:t>Links are opened by our server, not your device</a:t>
            </a:r>
            <a:endParaRPr lang="en-US" sz="1400" dirty="0"/>
          </a:p>
        </p:txBody>
      </p:sp>
      <p:pic>
        <p:nvPicPr>
          <p:cNvPr id="44" name="Check 4" descr="preencoded.png">    </p:cNvPr>
          <p:cNvPicPr>
            <a:picLocks noChangeAspect="1"/>
          </p:cNvPicPr>
          <p:nvPr/>
        </p:nvPicPr>
        <p:blipFill>
          <a:blip r:embed="rId11"/>
          <a:stretch>
            <a:fillRect/>
          </a:stretch>
        </p:blipFill>
        <p:spPr>
          <a:xfrm>
            <a:off x="6903720" y="5029200"/>
            <a:ext cx="237744" cy="237744"/>
          </a:xfrm>
          <a:prstGeom prst="rect">
            <a:avLst/>
          </a:prstGeom>
        </p:spPr>
      </p:pic>
      <p:sp>
        <p:nvSpPr>
          <p:cNvPr id="45" name="Privacy point 4"/>
          <p:cNvSpPr txBox="1"/>
          <p:nvPr/>
        </p:nvSpPr>
        <p:spPr>
          <a:xfrm>
            <a:off x="7296912" y="4974336"/>
            <a:ext cx="4160520" cy="365760"/>
          </a:xfrm>
          <a:prstGeom prst="rect">
            <a:avLst/>
          </a:prstGeom>
          <a:noFill/>
          <a:ln/>
        </p:spPr>
        <p:txBody>
          <a:bodyPr wrap="square" lIns="0" tIns="0" rIns="0" bIns="0" rtlCol="0" anchor="ctr"/>
          <a:lstStyle/>
          <a:p>
            <a:pPr indent="0" marL="0">
              <a:buNone/>
            </a:pPr>
            <a:r>
              <a:rPr lang="en-US" sz="1400" dirty="0">
                <a:solidFill>
                  <a:schemeClr val="bg1"/>
                </a:solidFill>
              </a:rPr>
              <a:t>The My data page shows every record we hold</a:t>
            </a:r>
            <a:endParaRPr lang="en-US" sz="1400" dirty="0"/>
          </a:p>
        </p:txBody>
      </p:sp>
      <p:pic>
        <p:nvPicPr>
          <p:cNvPr id="46" name="Check 5" descr="preencoded.png">    </p:cNvPr>
          <p:cNvPicPr>
            <a:picLocks noChangeAspect="1"/>
          </p:cNvPicPr>
          <p:nvPr/>
        </p:nvPicPr>
        <p:blipFill>
          <a:blip r:embed="rId12"/>
          <a:stretch>
            <a:fillRect/>
          </a:stretch>
        </p:blipFill>
        <p:spPr>
          <a:xfrm>
            <a:off x="6903720" y="5559552"/>
            <a:ext cx="237744" cy="237744"/>
          </a:xfrm>
          <a:prstGeom prst="rect">
            <a:avLst/>
          </a:prstGeom>
        </p:spPr>
      </p:pic>
      <p:sp>
        <p:nvSpPr>
          <p:cNvPr id="47" name="Privacy point 5"/>
          <p:cNvSpPr txBox="1"/>
          <p:nvPr/>
        </p:nvSpPr>
        <p:spPr>
          <a:xfrm>
            <a:off x="7296912" y="5504688"/>
            <a:ext cx="4160520" cy="365760"/>
          </a:xfrm>
          <a:prstGeom prst="rect">
            <a:avLst/>
          </a:prstGeom>
          <a:noFill/>
          <a:ln/>
        </p:spPr>
        <p:txBody>
          <a:bodyPr wrap="square" lIns="0" tIns="0" rIns="0" bIns="0" rtlCol="0" anchor="ctr"/>
          <a:lstStyle/>
          <a:p>
            <a:pPr indent="0" marL="0">
              <a:buNone/>
            </a:pPr>
            <a:r>
              <a:rPr lang="en-US" sz="1400" dirty="0">
                <a:solidFill>
                  <a:schemeClr val="bg1"/>
                </a:solidFill>
              </a:rPr>
              <a:t>Export it all, or delete it from the Privacy page</a:t>
            </a:r>
            <a:endParaRPr lang="en-US" sz="14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3" type="body" hasCustomPrompt="1"/>
          </p:nvPr>
        </p:nvSpPr>
        <p:spPr>
          <a:xfrm>
            <a:off x="548640" y="109728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LIVE DEMO</a:t>
            </a:r>
            <a:endParaRPr lang="en-US" sz="1200" dirty="0"/>
          </a:p>
        </p:txBody>
      </p:sp>
      <p:sp>
        <p:nvSpPr>
          <p:cNvPr id="3" name="Text 1"/>
          <p:cNvSpPr/>
          <p:nvPr>
            <p:ph idx="104" type="title" hasCustomPrompt="1"/>
          </p:nvPr>
        </p:nvSpPr>
        <p:spPr>
          <a:xfrm>
            <a:off x="548640" y="1371600"/>
            <a:ext cx="11091672" cy="731520"/>
          </a:xfrm>
          <a:prstGeom prst="rect">
            <a:avLst/>
          </a:prstGeom>
          <a:noFill/>
          <a:ln/>
        </p:spPr>
        <p:txBody>
          <a:bodyPr wrap="square" lIns="0" tIns="0" rIns="0" bIns="0" rtlCol="0" anchor="t"/>
          <a:lstStyle/>
          <a:p>
            <a:pPr algn="l" indent="0" marL="0">
              <a:buNone/>
            </a:pPr>
            <a:r>
              <a:rPr lang="en-US" sz="3600" b="1" dirty="0">
                <a:solidFill>
                  <a:schemeClr val="bg1"/>
                </a:solidFill>
                <a:latin typeface="Arial" pitchFamily="34" charset="0"/>
                <a:ea typeface="Arial" pitchFamily="34" charset="-122"/>
                <a:cs typeface="Arial" pitchFamily="34" charset="-120"/>
              </a:rPr>
              <a:t>Thank you, now see it live</a:t>
            </a:r>
            <a:endParaRPr lang="en-US" sz="3600" dirty="0"/>
          </a:p>
        </p:txBody>
      </p:sp>
      <p:sp>
        <p:nvSpPr>
          <p:cNvPr id="4" name="URL card"/>
          <p:cNvSpPr/>
          <p:nvPr/>
        </p:nvSpPr>
        <p:spPr>
          <a:xfrm>
            <a:off x="548640" y="2331720"/>
            <a:ext cx="5257800" cy="731520"/>
          </a:xfrm>
          <a:prstGeom prst="roundRect">
            <a:avLst>
              <a:gd name="adj" fmla="val 15000"/>
            </a:avLst>
          </a:prstGeom>
          <a:solidFill>
            <a:schemeClr val="tx2"/>
          </a:solidFill>
          <a:ln w="9525">
            <a:solidFill>
              <a:schemeClr val="accent1">
                <a:alpha val="18000"/>
              </a:schemeClr>
            </a:solidFill>
            <a:prstDash val="solid"/>
          </a:ln>
        </p:spPr>
      </p:sp>
      <p:sp>
        <p:nvSpPr>
          <p:cNvPr id="5" name="URL circle"/>
          <p:cNvSpPr/>
          <p:nvPr/>
        </p:nvSpPr>
        <p:spPr>
          <a:xfrm>
            <a:off x="749808" y="2441448"/>
            <a:ext cx="512064" cy="512064"/>
          </a:xfrm>
          <a:prstGeom prst="ellipse">
            <a:avLst/>
          </a:prstGeom>
          <a:solidFill>
            <a:schemeClr val="accent1">
              <a:alpha val="18000"/>
            </a:schemeClr>
          </a:solidFill>
          <a:ln/>
        </p:spPr>
      </p:sp>
      <p:pic>
        <p:nvPicPr>
          <p:cNvPr id="6" name="URL icon" descr="preencoded.png">    </p:cNvPr>
          <p:cNvPicPr>
            <a:picLocks noChangeAspect="1"/>
          </p:cNvPicPr>
          <p:nvPr/>
        </p:nvPicPr>
        <p:blipFill>
          <a:blip r:embed="rId1"/>
          <a:stretch>
            <a:fillRect/>
          </a:stretch>
        </p:blipFill>
        <p:spPr>
          <a:xfrm>
            <a:off x="872703" y="2564343"/>
            <a:ext cx="266273" cy="266273"/>
          </a:xfrm>
          <a:prstGeom prst="rect">
            <a:avLst/>
          </a:prstGeom>
        </p:spPr>
      </p:pic>
      <p:sp>
        <p:nvSpPr>
          <p:cNvPr id="7" name="Live URL">
            <a:hlinkClick r:id="rId2" tooltip=""/>
          </p:cNvPr>
          <p:cNvSpPr txBox="1"/>
          <p:nvPr/>
        </p:nvSpPr>
        <p:spPr>
          <a:xfrm>
            <a:off x="1417320" y="2441448"/>
            <a:ext cx="4297680" cy="512064"/>
          </a:xfrm>
          <a:prstGeom prst="rect">
            <a:avLst/>
          </a:prstGeom>
          <a:noFill/>
          <a:ln/>
        </p:spPr>
        <p:txBody>
          <a:bodyPr wrap="square" lIns="0" tIns="0" rIns="0" bIns="0" rtlCol="0" anchor="ctr"/>
          <a:lstStyle/>
          <a:p>
            <a:pPr indent="0" marL="0">
              <a:buNone/>
            </a:pPr>
            <a:r>
              <a:rPr lang="en-US" sz="2000" b="1"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aegis-security-bay.vercel.app</a:t>
            </a:r>
            <a:endParaRPr lang="en-US" sz="2000" dirty="0"/>
          </a:p>
        </p:txBody>
      </p:sp>
      <p:sp>
        <p:nvSpPr>
          <p:cNvPr id="8" name="Demo label"/>
          <p:cNvSpPr txBox="1"/>
          <p:nvPr/>
        </p:nvSpPr>
        <p:spPr>
          <a:xfrm>
            <a:off x="548640" y="3291840"/>
            <a:ext cx="4572000" cy="274320"/>
          </a:xfrm>
          <a:prstGeom prst="rect">
            <a:avLst/>
          </a:prstGeom>
          <a:noFill/>
          <a:ln/>
        </p:spPr>
        <p:txBody>
          <a:bodyPr wrap="square" lIns="0" tIns="0" rIns="0" bIns="0" rtlCol="0" anchor="ctr"/>
          <a:lstStyle/>
          <a:p>
            <a:pPr indent="0" marL="0">
              <a:buNone/>
            </a:pPr>
            <a:r>
              <a:rPr lang="en-US" sz="1200" b="1" spc="200" kern="0" dirty="0">
                <a:solidFill>
                  <a:schemeClr val="bg2"/>
                </a:solidFill>
                <a:latin typeface="Courier New" pitchFamily="34" charset="0"/>
                <a:ea typeface="Courier New" pitchFamily="34" charset="-122"/>
                <a:cs typeface="Courier New" pitchFamily="34" charset="-120"/>
              </a:rPr>
              <a:t>DEMO PATH</a:t>
            </a:r>
            <a:endParaRPr lang="en-US" sz="1200" dirty="0"/>
          </a:p>
        </p:txBody>
      </p:sp>
      <p:sp>
        <p:nvSpPr>
          <p:cNvPr id="9" name="Demo 1 circle"/>
          <p:cNvSpPr/>
          <p:nvPr/>
        </p:nvSpPr>
        <p:spPr>
          <a:xfrm>
            <a:off x="548640" y="3666744"/>
            <a:ext cx="329184" cy="329184"/>
          </a:xfrm>
          <a:prstGeom prst="ellipse">
            <a:avLst/>
          </a:prstGeom>
          <a:solidFill>
            <a:schemeClr val="accent2"/>
          </a:solidFill>
          <a:ln/>
        </p:spPr>
      </p:sp>
      <p:sp>
        <p:nvSpPr>
          <p:cNvPr id="10" name="Demo 1 number"/>
          <p:cNvSpPr txBox="1"/>
          <p:nvPr/>
        </p:nvSpPr>
        <p:spPr>
          <a:xfrm>
            <a:off x="548640" y="3666744"/>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1" name="Demo 1 text"/>
          <p:cNvSpPr txBox="1"/>
          <p:nvPr/>
        </p:nvSpPr>
        <p:spPr>
          <a:xfrm>
            <a:off x="1024128" y="3639312"/>
            <a:ext cx="4754880" cy="384048"/>
          </a:xfrm>
          <a:prstGeom prst="rect">
            <a:avLst/>
          </a:prstGeom>
          <a:noFill/>
          <a:ln/>
        </p:spPr>
        <p:txBody>
          <a:bodyPr wrap="square" lIns="0" tIns="0" rIns="0" bIns="0" rtlCol="0" anchor="ctr"/>
          <a:lstStyle/>
          <a:p>
            <a:pPr indent="0" marL="0">
              <a:buNone/>
            </a:pPr>
            <a:r>
              <a:rPr lang="en-US" sz="1600" dirty="0">
                <a:solidFill>
                  <a:schemeClr val="bg1"/>
                </a:solidFill>
              </a:rPr>
              <a:t>Check a suspicious link</a:t>
            </a:r>
            <a:endParaRPr lang="en-US" sz="1600" dirty="0"/>
          </a:p>
        </p:txBody>
      </p:sp>
      <p:sp>
        <p:nvSpPr>
          <p:cNvPr id="12" name="Demo 2 circle"/>
          <p:cNvSpPr/>
          <p:nvPr/>
        </p:nvSpPr>
        <p:spPr>
          <a:xfrm>
            <a:off x="548640" y="4142232"/>
            <a:ext cx="329184" cy="329184"/>
          </a:xfrm>
          <a:prstGeom prst="ellipse">
            <a:avLst/>
          </a:prstGeom>
          <a:solidFill>
            <a:schemeClr val="accent2"/>
          </a:solidFill>
          <a:ln/>
        </p:spPr>
      </p:sp>
      <p:sp>
        <p:nvSpPr>
          <p:cNvPr id="13" name="Demo 2 number"/>
          <p:cNvSpPr txBox="1"/>
          <p:nvPr/>
        </p:nvSpPr>
        <p:spPr>
          <a:xfrm>
            <a:off x="548640" y="4142232"/>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4" name="Demo 2 text"/>
          <p:cNvSpPr txBox="1"/>
          <p:nvPr/>
        </p:nvSpPr>
        <p:spPr>
          <a:xfrm>
            <a:off x="1024128" y="4114800"/>
            <a:ext cx="4754880" cy="384048"/>
          </a:xfrm>
          <a:prstGeom prst="rect">
            <a:avLst/>
          </a:prstGeom>
          <a:noFill/>
          <a:ln/>
        </p:spPr>
        <p:txBody>
          <a:bodyPr wrap="square" lIns="0" tIns="0" rIns="0" bIns="0" rtlCol="0" anchor="ctr"/>
          <a:lstStyle/>
          <a:p>
            <a:pPr indent="0" marL="0">
              <a:buNone/>
            </a:pPr>
            <a:r>
              <a:rPr lang="en-US" sz="1600" dirty="0">
                <a:solidFill>
                  <a:schemeClr val="bg1"/>
                </a:solidFill>
              </a:rPr>
              <a:t>Paste a scam SMS</a:t>
            </a:r>
            <a:endParaRPr lang="en-US" sz="1600" dirty="0"/>
          </a:p>
        </p:txBody>
      </p:sp>
      <p:sp>
        <p:nvSpPr>
          <p:cNvPr id="15" name="Demo 3 circle"/>
          <p:cNvSpPr/>
          <p:nvPr/>
        </p:nvSpPr>
        <p:spPr>
          <a:xfrm>
            <a:off x="548640" y="4617720"/>
            <a:ext cx="329184" cy="329184"/>
          </a:xfrm>
          <a:prstGeom prst="ellipse">
            <a:avLst/>
          </a:prstGeom>
          <a:solidFill>
            <a:schemeClr val="accent2"/>
          </a:solidFill>
          <a:ln/>
        </p:spPr>
      </p:sp>
      <p:sp>
        <p:nvSpPr>
          <p:cNvPr id="16" name="Demo 3 number"/>
          <p:cNvSpPr txBox="1"/>
          <p:nvPr/>
        </p:nvSpPr>
        <p:spPr>
          <a:xfrm>
            <a:off x="548640" y="4617720"/>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7" name="Demo 3 text"/>
          <p:cNvSpPr txBox="1"/>
          <p:nvPr/>
        </p:nvSpPr>
        <p:spPr>
          <a:xfrm>
            <a:off x="1024128" y="4590288"/>
            <a:ext cx="4754880" cy="384048"/>
          </a:xfrm>
          <a:prstGeom prst="rect">
            <a:avLst/>
          </a:prstGeom>
          <a:noFill/>
          <a:ln/>
        </p:spPr>
        <p:txBody>
          <a:bodyPr wrap="square" lIns="0" tIns="0" rIns="0" bIns="0" rtlCol="0" anchor="ctr"/>
          <a:lstStyle/>
          <a:p>
            <a:pPr indent="0" marL="0">
              <a:buNone/>
            </a:pPr>
            <a:r>
              <a:rPr lang="en-US" sz="1600" dirty="0">
                <a:solidFill>
                  <a:schemeClr val="bg1"/>
                </a:solidFill>
              </a:rPr>
              <a:t>Open the case and prepare the report</a:t>
            </a:r>
            <a:endParaRPr lang="en-US" sz="1600" dirty="0"/>
          </a:p>
        </p:txBody>
      </p:sp>
      <p:sp>
        <p:nvSpPr>
          <p:cNvPr id="18" name="Demo 4 circle"/>
          <p:cNvSpPr/>
          <p:nvPr/>
        </p:nvSpPr>
        <p:spPr>
          <a:xfrm>
            <a:off x="548640" y="5093208"/>
            <a:ext cx="329184" cy="329184"/>
          </a:xfrm>
          <a:prstGeom prst="ellipse">
            <a:avLst/>
          </a:prstGeom>
          <a:solidFill>
            <a:schemeClr val="accent2"/>
          </a:solidFill>
          <a:ln/>
        </p:spPr>
      </p:sp>
      <p:sp>
        <p:nvSpPr>
          <p:cNvPr id="19" name="Demo 4 number"/>
          <p:cNvSpPr txBox="1"/>
          <p:nvPr/>
        </p:nvSpPr>
        <p:spPr>
          <a:xfrm>
            <a:off x="548640" y="509320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0" name="Demo 4 text"/>
          <p:cNvSpPr txBox="1"/>
          <p:nvPr/>
        </p:nvSpPr>
        <p:spPr>
          <a:xfrm>
            <a:off x="1024128" y="5065776"/>
            <a:ext cx="4754880" cy="384048"/>
          </a:xfrm>
          <a:prstGeom prst="rect">
            <a:avLst/>
          </a:prstGeom>
          <a:noFill/>
          <a:ln/>
        </p:spPr>
        <p:txBody>
          <a:bodyPr wrap="square" lIns="0" tIns="0" rIns="0" bIns="0" rtlCol="0" anchor="ctr"/>
          <a:lstStyle/>
          <a:p>
            <a:pPr indent="0" marL="0">
              <a:buNone/>
            </a:pPr>
            <a:r>
              <a:rPr lang="en-US" sz="1600" dirty="0">
                <a:solidFill>
                  <a:schemeClr val="bg1"/>
                </a:solidFill>
              </a:rPr>
              <a:t>See every record on My data</a:t>
            </a:r>
            <a:endParaRPr lang="en-US" sz="1600" dirty="0"/>
          </a:p>
        </p:txBody>
      </p:sp>
      <p:pic>
        <p:nvPicPr>
          <p:cNvPr id="21" name="Landing screenshot" descr="Aegis landing page with the Earth-at-night hero">    </p:cNvPr>
          <p:cNvPicPr>
            <a:picLocks noChangeAspect="1"/>
          </p:cNvPicPr>
          <p:nvPr/>
        </p:nvPicPr>
        <p:blipFill>
          <a:blip r:embed="rId3"/>
          <a:stretch>
            <a:fillRect/>
          </a:stretch>
        </p:blipFill>
        <p:spPr>
          <a:xfrm>
            <a:off x="6263640" y="2331720"/>
            <a:ext cx="5376672" cy="3360420"/>
          </a:xfrm>
          <a:prstGeom prst="rect">
            <a:avLst/>
          </a:prstGeom>
        </p:spPr>
      </p:pic>
      <p:sp>
        <p:nvSpPr>
          <p:cNvPr id="22" name="Next label"/>
          <p:cNvSpPr txBox="1"/>
          <p:nvPr/>
        </p:nvSpPr>
        <p:spPr>
          <a:xfrm>
            <a:off x="548640" y="5788152"/>
            <a:ext cx="731520" cy="365760"/>
          </a:xfrm>
          <a:prstGeom prst="rect">
            <a:avLst/>
          </a:prstGeom>
          <a:noFill/>
          <a:ln/>
        </p:spPr>
        <p:txBody>
          <a:bodyPr wrap="square" lIns="0" tIns="0" rIns="0" bIns="0" rtlCol="0" anchor="ctr"/>
          <a:lstStyle/>
          <a:p>
            <a:pPr indent="0" marL="0">
              <a:buNone/>
            </a:pPr>
            <a:r>
              <a:rPr lang="en-US" sz="1200" b="1" spc="200" kern="0" dirty="0">
                <a:solidFill>
                  <a:schemeClr val="bg2"/>
                </a:solidFill>
                <a:latin typeface="Courier New" pitchFamily="34" charset="0"/>
                <a:ea typeface="Courier New" pitchFamily="34" charset="-122"/>
                <a:cs typeface="Courier New" pitchFamily="34" charset="-120"/>
              </a:rPr>
              <a:t>NEXT</a:t>
            </a:r>
            <a:endParaRPr lang="en-US" sz="1200" dirty="0"/>
          </a:p>
        </p:txBody>
      </p:sp>
      <p:sp>
        <p:nvSpPr>
          <p:cNvPr id="23" name="Next 1 pill"/>
          <p:cNvSpPr/>
          <p:nvPr/>
        </p:nvSpPr>
        <p:spPr>
          <a:xfrm>
            <a:off x="1325880" y="5788152"/>
            <a:ext cx="3749040" cy="365760"/>
          </a:xfrm>
          <a:prstGeom prst="roundRect">
            <a:avLst>
              <a:gd name="adj" fmla="val 50000"/>
            </a:avLst>
          </a:prstGeom>
          <a:solidFill>
            <a:schemeClr val="tx2"/>
          </a:solidFill>
          <a:ln w="9525">
            <a:solidFill>
              <a:schemeClr val="accent1">
                <a:alpha val="30000"/>
              </a:schemeClr>
            </a:solidFill>
            <a:prstDash val="solid"/>
          </a:ln>
        </p:spPr>
      </p:sp>
      <p:sp>
        <p:nvSpPr>
          <p:cNvPr id="24" name="Next 1 text"/>
          <p:cNvSpPr txBox="1"/>
          <p:nvPr/>
        </p:nvSpPr>
        <p:spPr>
          <a:xfrm>
            <a:off x="1325880" y="5788152"/>
            <a:ext cx="3749040" cy="365760"/>
          </a:xfrm>
          <a:prstGeom prst="rect">
            <a:avLst/>
          </a:prstGeom>
          <a:noFill/>
          <a:ln/>
        </p:spPr>
        <p:txBody>
          <a:bodyPr wrap="square" lIns="0" tIns="0" rIns="0" bIns="0" rtlCol="0" anchor="ctr"/>
          <a:lstStyle/>
          <a:p>
            <a:pPr algn="ctr" indent="0" marL="0">
              <a:buNone/>
            </a:pPr>
            <a:r>
              <a:rPr lang="en-US" sz="1200" dirty="0">
                <a:solidFill>
                  <a:schemeClr val="bg1"/>
                </a:solidFill>
              </a:rPr>
              <a:t>Live call screening via a telephony provider</a:t>
            </a:r>
            <a:endParaRPr lang="en-US" sz="1200" dirty="0"/>
          </a:p>
        </p:txBody>
      </p:sp>
      <p:sp>
        <p:nvSpPr>
          <p:cNvPr id="25" name="Next 2 pill"/>
          <p:cNvSpPr/>
          <p:nvPr/>
        </p:nvSpPr>
        <p:spPr>
          <a:xfrm>
            <a:off x="5212080" y="5788152"/>
            <a:ext cx="2926080" cy="365760"/>
          </a:xfrm>
          <a:prstGeom prst="roundRect">
            <a:avLst>
              <a:gd name="adj" fmla="val 50000"/>
            </a:avLst>
          </a:prstGeom>
          <a:solidFill>
            <a:schemeClr val="tx2"/>
          </a:solidFill>
          <a:ln w="9525">
            <a:solidFill>
              <a:schemeClr val="accent1">
                <a:alpha val="30000"/>
              </a:schemeClr>
            </a:solidFill>
            <a:prstDash val="solid"/>
          </a:ln>
        </p:spPr>
      </p:sp>
      <p:sp>
        <p:nvSpPr>
          <p:cNvPr id="26" name="Next 2 text"/>
          <p:cNvSpPr txBox="1"/>
          <p:nvPr/>
        </p:nvSpPr>
        <p:spPr>
          <a:xfrm>
            <a:off x="5212080" y="5788152"/>
            <a:ext cx="2926080" cy="365760"/>
          </a:xfrm>
          <a:prstGeom prst="rect">
            <a:avLst/>
          </a:prstGeom>
          <a:noFill/>
          <a:ln/>
        </p:spPr>
        <p:txBody>
          <a:bodyPr wrap="square" lIns="0" tIns="0" rIns="0" bIns="0" rtlCol="0" anchor="ctr"/>
          <a:lstStyle/>
          <a:p>
            <a:pPr algn="ctr" indent="0" marL="0">
              <a:buNone/>
            </a:pPr>
            <a:r>
              <a:rPr lang="en-US" sz="1200" dirty="0">
                <a:solidFill>
                  <a:schemeClr val="bg1"/>
                </a:solidFill>
              </a:rPr>
              <a:t>Threat-intel feeds for link checks</a:t>
            </a:r>
            <a:endParaRPr lang="en-US" sz="1200" dirty="0"/>
          </a:p>
        </p:txBody>
      </p:sp>
      <p:sp>
        <p:nvSpPr>
          <p:cNvPr id="27" name="Next 3 pill"/>
          <p:cNvSpPr/>
          <p:nvPr/>
        </p:nvSpPr>
        <p:spPr>
          <a:xfrm>
            <a:off x="8275320" y="5788152"/>
            <a:ext cx="3063240" cy="365760"/>
          </a:xfrm>
          <a:prstGeom prst="roundRect">
            <a:avLst>
              <a:gd name="adj" fmla="val 50000"/>
            </a:avLst>
          </a:prstGeom>
          <a:solidFill>
            <a:schemeClr val="tx2"/>
          </a:solidFill>
          <a:ln w="9525">
            <a:solidFill>
              <a:schemeClr val="accent1">
                <a:alpha val="30000"/>
              </a:schemeClr>
            </a:solidFill>
            <a:prstDash val="solid"/>
          </a:ln>
        </p:spPr>
      </p:sp>
      <p:sp>
        <p:nvSpPr>
          <p:cNvPr id="28" name="Next 3 text"/>
          <p:cNvSpPr txBox="1"/>
          <p:nvPr/>
        </p:nvSpPr>
        <p:spPr>
          <a:xfrm>
            <a:off x="8275320" y="5788152"/>
            <a:ext cx="3063240" cy="365760"/>
          </a:xfrm>
          <a:prstGeom prst="rect">
            <a:avLst/>
          </a:prstGeom>
          <a:noFill/>
          <a:ln/>
        </p:spPr>
        <p:txBody>
          <a:bodyPr wrap="square" lIns="0" tIns="0" rIns="0" bIns="0" rtlCol="0" anchor="ctr"/>
          <a:lstStyle/>
          <a:p>
            <a:pPr algn="ctr" indent="0" marL="0">
              <a:buNone/>
            </a:pPr>
            <a:r>
              <a:rPr lang="en-US" sz="1200" dirty="0">
                <a:solidFill>
                  <a:schemeClr val="bg1"/>
                </a:solidFill>
              </a:rPr>
              <a:t>Speech-to-text for call recordings</a:t>
            </a:r>
            <a:endParaRPr lang="en-US" sz="12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Aegis Night">
  <a:themeElements>
    <a:clrScheme name="Aegis Night">
      <a:dk1>
        <a:srgbClr val="0A0E1C"/>
      </a:dk1>
      <a:lt1>
        <a:srgbClr val="E8EBF2"/>
      </a:lt1>
      <a:dk2>
        <a:srgbClr val="141A33"/>
      </a:dk2>
      <a:lt2>
        <a:srgbClr val="A4ADBF"/>
      </a:lt2>
      <a:accent1>
        <a:srgbClr val="8FA6FF"/>
      </a:accent1>
      <a:accent2>
        <a:srgbClr val="FFB547"/>
      </a:accent2>
      <a:accent3>
        <a:srgbClr val="45C48B"/>
      </a:accent3>
      <a:accent4>
        <a:srgbClr val="F0B45B"/>
      </a:accent4>
      <a:accent5>
        <a:srgbClr val="F06464"/>
      </a:accent5>
      <a:accent6>
        <a:srgbClr val="B0AEFF"/>
      </a:accent6>
      <a:hlink>
        <a:srgbClr val="8FA6FF"/>
      </a:hlink>
      <a:folHlink>
        <a:srgbClr val="B0AEFF"/>
      </a:folHlink>
    </a:clrScheme>
    <a:fontScheme name="Aegis N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JECRC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Aegis — Team Code Slayers</dc:title>
  <dc:subject>PptxGenJS Presentation</dc:subject>
  <dc:creator>Team Code Slayers</dc:creator>
  <cp:lastModifiedBy>Team Code Slayers</cp:lastModifiedBy>
  <cp:revision>1</cp:revision>
  <dcterms:created xsi:type="dcterms:W3CDTF">2026-10-23T21:58:38Z</dcterms:created>
  <dcterms:modified xsi:type="dcterms:W3CDTF">2026-10-23T21:58:38Z</dcterms:modified>
</cp:coreProperties>
</file>